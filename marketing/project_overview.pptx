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MyPhonicsBooks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Visualisation &amp; Status Report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365760" cy="365760"/>
          </a:xfrm>
          <a:prstGeom prst="ellipse">
            <a:avLst/>
          </a:prstGeom>
          <a:solidFill>
            <a:srgbClr val="E84B8A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310896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3108960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Shape 5"/>
          <p:cNvSpPr/>
          <p:nvPr/>
        </p:nvSpPr>
        <p:spPr>
          <a:xfrm>
            <a:off x="2240280" y="31089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31089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31089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Reading Levels  |  10 Story Templates  |  16-Page Books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Prepared for Lynden Cooke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MyPhonicsBooks?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phonics-structured reading books for children aged 4 to 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45920"/>
            <a:ext cx="1554480" cy="54864"/>
          </a:xfrm>
          <a:prstGeom prst="rect">
            <a:avLst/>
          </a:prstGeom>
          <a:solidFill>
            <a:srgbClr val="E84B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enters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child's name,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&amp; level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148840" y="164592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48840" y="164592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8288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selected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70332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3931920" y="164592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931920" y="1645920"/>
            <a:ext cx="15544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288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3192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text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48640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5715000" y="164592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15000" y="1645920"/>
            <a:ext cx="155448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82880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1500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269480" y="23774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7498080" y="164592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0" y="164592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82880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98080" y="2468880"/>
            <a:ext cx="1554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assembled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16-page A5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booklet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548640" y="4114800"/>
            <a:ext cx="8229600" cy="7315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9" name="Shape 22"/>
          <p:cNvSpPr/>
          <p:nvPr/>
        </p:nvSpPr>
        <p:spPr>
          <a:xfrm>
            <a:off x="548640" y="4114800"/>
            <a:ext cx="54864" cy="731520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30" name="Text 23"/>
          <p:cNvSpPr/>
          <p:nvPr/>
        </p:nvSpPr>
        <p:spPr>
          <a:xfrm>
            <a:off x="82296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Non-Negotiable Rule: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in the story must be either decodable at the selected level (child can sound it out) or a listed tricky word. No exceptions.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 Reading Levels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Letters and Sounds (DfE) — the UK's public-domain phonics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325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325880" cy="822960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only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font: 24pt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 words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352044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 t p i n m d g o c k ck e u r h b f ff l ll ss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737360" y="1371600"/>
            <a:ext cx="1325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37360" y="1371600"/>
            <a:ext cx="132588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737360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37360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+ digraphs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3736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font: 22pt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3736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~350 words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83080" y="352044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v w x y z zz qu ch sh th ng nk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0" y="1371600"/>
            <a:ext cx="1325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371600"/>
            <a:ext cx="1325880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0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digraphs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font: 20pt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~385 words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46120" y="352044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ee igh oa oo ar or ur ow oi ear air ure er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63440" y="1371600"/>
            <a:ext cx="1325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371600"/>
            <a:ext cx="132588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Blending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6344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CCVC CVCC CCVCC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6344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font: 18pt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6344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~420 words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352044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(clusters: bl, cr, st, mp...)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26480" y="1371600"/>
            <a:ext cx="1325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1371600"/>
            <a:ext cx="1325880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6126480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2648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26480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Multi-syllable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font: 16pt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2648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words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72200" y="352044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 ou ie ea oy ir ue aw wh ph ew oe au a-e e-e i-e o-e u-e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589520" y="1371600"/>
            <a:ext cx="13258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589520" y="1371600"/>
            <a:ext cx="1325880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1" name="Text 49"/>
          <p:cNvSpPr/>
          <p:nvPr/>
        </p:nvSpPr>
        <p:spPr>
          <a:xfrm>
            <a:off x="7589520" y="13716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58952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Learn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589520" y="2286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5c/6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9520" y="26060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words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589520" y="29260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font: 14pt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589520" y="3200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words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35240" y="3520440"/>
            <a:ext cx="12344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-tion -sion -ous -ly -ment -ness -ful -less un- re- pre- dis-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Tricky Words by Level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words that cannot be fully sounded out — children learn these by sight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E84B8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the, to, I, no, go, into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1920240"/>
            <a:ext cx="7498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she, we, me, be, was, my, you, her, they, all, 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2514600"/>
            <a:ext cx="7498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said, so, have, like, some, come, were, there, little, one, do, when, out, what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3108960"/>
            <a:ext cx="7498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oh, their, people, Mr, Mrs, looked, called, asked, could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703320"/>
            <a:ext cx="7498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947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where, who, again, thought, through, work, mouse, many, laughed, because, different, any, eyes, friends, once, please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4297680"/>
            <a:ext cx="74980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eight, beautiful, children, important, interesting, animals, everybody, special, favourite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are cumulative — Level 3 children know all Level 1, 2, and 3 tricky words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Story Templates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template defines 8 scenes with personalisation slots, illustration briefs, and interest mappings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481328"/>
            <a:ext cx="402336" cy="402336"/>
          </a:xfrm>
          <a:prstGeom prst="ellipse">
            <a:avLst/>
          </a:prstGeom>
          <a:solidFill>
            <a:srgbClr val="E84B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Adventure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somewhere new  •  Courage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19456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084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Lost Thing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14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returns something  •  Kindness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907792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980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Friend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someone different  •  Friendship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11296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621024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event  •  Excitement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24528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4334256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Helper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problem  •  Empathy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371600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1481328"/>
            <a:ext cx="402336" cy="40233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910328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Discovery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17007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secret place  •  Wonder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084832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10328" y="2194560"/>
            <a:ext cx="402336" cy="402336"/>
          </a:xfrm>
          <a:prstGeom prst="ellipse">
            <a:avLst/>
          </a:prstGeom>
          <a:solidFill>
            <a:srgbClr val="E84B8A"/>
          </a:solidFill>
          <a:ln/>
        </p:spPr>
      </p:sp>
      <p:sp>
        <p:nvSpPr>
          <p:cNvPr id="36" name="Text 34"/>
          <p:cNvSpPr/>
          <p:nvPr/>
        </p:nvSpPr>
        <p:spPr>
          <a:xfrm>
            <a:off x="491032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2084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Pet Story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2414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companion  •  Care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798064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910328" y="290779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4910328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27980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Sport/Game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31272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or team play  •  Perseverance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3511296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910328" y="3621024"/>
            <a:ext cx="402336" cy="40233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4910328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40680" y="35112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Weather Day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44068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changes the day  •  Adaptability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224528"/>
            <a:ext cx="4206240" cy="62179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910328" y="4334256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4910328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440680" y="42245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Family Day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440680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Outing with family  •  Belonging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templates × 6 levels = 60 book moulds. AI personalises content, not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16-Page Book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 A4, fold to A5, staple — a real book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36576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 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32588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colour, brand,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sounds row, title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18872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 for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Grown-Ups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Before/during/after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tips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188720"/>
            <a:ext cx="26974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984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Phonics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132588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chart, story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words, tricky words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2514600"/>
            <a:ext cx="26974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24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p4-11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Pages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26517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pages: text on top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(~25%), illustration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(~75%)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91840" y="251460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2514600"/>
            <a:ext cx="2697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2624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Page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26517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Can You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Read?, draw box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17920" y="251460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2514600"/>
            <a:ext cx="269748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624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880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265176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4-line handwriting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trace letters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84048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" y="3840480"/>
            <a:ext cx="2697480" cy="36576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950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Nonsense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37360" y="3977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pseudo-words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(PSC prep)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91840" y="384048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Shape 38"/>
          <p:cNvSpPr/>
          <p:nvPr/>
        </p:nvSpPr>
        <p:spPr>
          <a:xfrm>
            <a:off x="3291840" y="3840480"/>
            <a:ext cx="2697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3950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Star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663440" y="3977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done message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17920" y="3840480"/>
            <a:ext cx="269748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3840480"/>
            <a:ext cx="26974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9502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09360" y="4206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Cover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589520" y="3977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6-level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grid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Template Deep Dive: The Adventure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54864" cy="731520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woke up. It was a [WEATHER] day. 'I want to go on an adventure.'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023360" y="1051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Excitement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87452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put on a coat and went outside. [FRIEND] was there.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69748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97480"/>
            <a:ext cx="54864" cy="7315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walked to [LOCATION]. The path was long but they did not stop.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0" y="26974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20440"/>
            <a:ext cx="54864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[LOCATION], [NAME] saw something. It was a [DISCOVERY].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23360" y="35204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0600" y="105156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05156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051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went closer. 'Wow,' said [FRIEND]. 'This is amazing.'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58200" y="105156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00600" y="187452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874520"/>
            <a:ext cx="54864" cy="731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2103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began to set. 'We should go back,' said [NAME].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58200" y="18745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Contentment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00600" y="269748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697480"/>
            <a:ext cx="54864" cy="731520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walked home. 'That was the best adventure.'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458200" y="269748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3520440"/>
            <a:ext cx="4206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5204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37760" y="3749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went to bed happy. Tomorrow there would be more adventures.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58200" y="352044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Mappings (what [DISCOVERY] becomes):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dinosaurs → fossil  |  space → meteor rock  |  unicorns → crystal cave  |  football → sports field  |  animals → fox den  |  baking → berry bush  |  nature → waterfall  |  vehicles → train track  |  music → singing birds  |  art → painted rocks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Model: Free Templates + Paid Personalisation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book templates per level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personalisation (placeholder names)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levels available as PDF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 for email capture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quality and method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PERSONALISATION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1874520"/>
            <a:ext cx="33832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Book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personalised PDF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1874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£4.99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2532888"/>
            <a:ext cx="33832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532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Pack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53288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books at one level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253288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£29.99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3191256"/>
            <a:ext cx="338328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1912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19125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60 books (L1-L6)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31912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£99.99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Upsells: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Sounds cards  |  Assessment tool  |  Parent reading guide  |  CPD course for teachers  |  School bulk licences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Funnel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diagnostic: 3 to 5 minutes to find a child's reading level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1965960" cy="45720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508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graphemes,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says the sound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371600"/>
            <a:ext cx="196596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508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Decodable words 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difficulty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196596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508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Nonsense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Pseudo-words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decoding 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17373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949440" y="13716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371600"/>
            <a:ext cx="19659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0" y="150876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49440" y="1737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Tricky Word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1945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words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phase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108960"/>
            <a:ext cx="8321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Algorithm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5661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correct → Move to next sound group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2-3/5 correct → Test 3 more from same group (2/3 = borderline pass, 0-1/3 = ceiling)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0-1/5 correct → Stop. This is their ceiling.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sounds: test word reading, then nonsense words at identified level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&amp;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(main.py)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 server, all endpoints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(server.js)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endpoint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generation + validation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+ Playwright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template to A5 PDF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user database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 (planned)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114800" cy="38404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&amp; Components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LandingHero — name input + CTA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LevelSelector — pick reading level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StoryPicker — choose template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BookPreview — preview before purchase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PricingCards — 3 tiers (single/pack/full)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FreeBookForm — free template capture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HowItWorks — process explainer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— common questions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ValueProps — trust + benefits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TrustBar — curriculum alignment badge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Status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Banks (6 levels)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31920" y="1069848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1069848"/>
            <a:ext cx="320040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624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Templates (10)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472184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1472184"/>
            <a:ext cx="320040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1362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Template (16-page HTML/CSS)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874520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1874520"/>
            <a:ext cx="320040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7647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167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276856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2276856"/>
            <a:ext cx="2880360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1671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569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Text Generation (Claude API)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2679192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0" y="2679192"/>
            <a:ext cx="22402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5694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Exists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Funnel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3081528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3931920" y="3081528"/>
            <a:ext cx="128016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374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+ Vite)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3483864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3931920" y="3483864"/>
            <a:ext cx="112014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0" y="33741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 + Express)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931920" y="3886200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3931920" y="3886200"/>
            <a:ext cx="9601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3776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178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931920" y="4288536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0" y="4178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581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 Integration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31920" y="4690872"/>
            <a:ext cx="3200400" cy="1645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Shape 38"/>
          <p:cNvSpPr/>
          <p:nvPr/>
        </p:nvSpPr>
        <p:spPr>
          <a:xfrm>
            <a:off x="3931920" y="4690872"/>
            <a:ext cx="6400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0" y="45811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Needs to Happen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88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097280"/>
            <a:ext cx="2788920" cy="54864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MVP Book 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story generation end-to-end (Claude API + validation + PDF)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sample books for each level and review quality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free template PDFs (generic names) for all 6 levels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illustration approach (DALL-E 3 or alternative)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788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97280"/>
            <a:ext cx="27889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Web App &amp; Payments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8288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React frontend (connect all components)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Stripe checkout flow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assessment funnel (interactive level finder)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capture + lead magnet delivery (free templates)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788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097280"/>
            <a:ext cx="27889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2344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Launch &amp; Scale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8288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free templates as lead magnet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Facebook/Instagram ads targeting UK parents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 course for teachers (ILM Connect tie-in)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bulk licensing model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Identity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encouraging, knowledgeable — like a friendly Year 1 teacher at pick-up time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Colours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88720" cy="640080"/>
          </a:xfrm>
          <a:prstGeom prst="rect">
            <a:avLst/>
          </a:prstGeom>
          <a:solidFill>
            <a:srgbClr val="E84B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#E84B8A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Sounds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118872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Sounds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645920"/>
            <a:ext cx="1188720" cy="6400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#22C55E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Sounds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645920"/>
            <a:ext cx="118872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#3B82F6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35040" y="1645920"/>
            <a:ext cx="1188720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#8B5CF6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Sounds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406640" y="1645920"/>
            <a:ext cx="1188720" cy="6400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6459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#14B8A6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to Learn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Headings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 —  500-800 weights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Body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603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Jakarta Sans  —  400-700 weights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Text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603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Andika (SIL)  —  Single-storey a and 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child deserves a reading book with their name in it"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"Personalised phonics books. Print at home."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Letters and Sounds (public domain). Not affiliated with RWI or ORT.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MyPhonicsBooks — Project Visualisation &amp; Status</dc:title>
  <dc:subject>PptxGenJS Presentation</dc:subject>
  <dc:creator>Claude for Lynden Cooke</dc:creator>
  <cp:lastModifiedBy>Claude for Lynden Cooke</cp:lastModifiedBy>
  <cp:revision>1</cp:revision>
  <dcterms:created xsi:type="dcterms:W3CDTF">2026-02-26T23:21:00Z</dcterms:created>
  <dcterms:modified xsi:type="dcterms:W3CDTF">2026-02-26T23:21:00Z</dcterms:modified>
</cp:coreProperties>
</file>