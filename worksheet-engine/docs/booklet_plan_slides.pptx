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B5CF6"/>
          </a:solidFill>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600" spc="200" kern="0" dirty="0">
                <a:solidFill>
                  <a:srgbClr val="C9B6FB"/>
                </a:solidFill>
                <a:latin typeface="Calibri" pitchFamily="34" charset="0"/>
                <a:ea typeface="Calibri" pitchFamily="34" charset="-122"/>
                <a:cs typeface="Calibri" pitchFamily="34" charset="-120"/>
              </a:rPr>
              <a:t>Printable Worksheet Booklet System</a:t>
            </a:r>
            <a:endParaRPr lang="en-US" sz="1600" dirty="0"/>
          </a:p>
        </p:txBody>
      </p:sp>
      <p:sp>
        <p:nvSpPr>
          <p:cNvPr id="4" name="Text 2"/>
          <p:cNvSpPr/>
          <p:nvPr/>
        </p:nvSpPr>
        <p:spPr>
          <a:xfrm>
            <a:off x="777240" y="18288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One pack per level, L1 to L8</a:t>
            </a:r>
            <a:endParaRPr lang="en-US" sz="4600" dirty="0"/>
          </a:p>
        </p:txBody>
      </p:sp>
      <p:sp>
        <p:nvSpPr>
          <p:cNvPr id="5" name="Text 3"/>
          <p:cNvSpPr/>
          <p:nvPr/>
        </p:nvSpPr>
        <p:spPr>
          <a:xfrm>
            <a:off x="822960" y="3200400"/>
            <a:ext cx="8778240" cy="914400"/>
          </a:xfrm>
          <a:prstGeom prst="rect">
            <a:avLst/>
          </a:prstGeom>
          <a:noFill/>
          <a:ln/>
        </p:spPr>
        <p:txBody>
          <a:bodyPr wrap="square" lIns="0" tIns="0" rIns="0" bIns="0" rtlCol="0" anchor="ctr"/>
          <a:lstStyle/>
          <a:p>
            <a:pPr indent="0" marL="0">
              <a:buNone/>
            </a:pPr>
            <a:r>
              <a:rPr lang="en-US" sz="1500" dirty="0">
                <a:solidFill>
                  <a:srgbClr val="D8D5F0"/>
                </a:solidFill>
                <a:latin typeface="Calibri" pitchFamily="34" charset="0"/>
                <a:ea typeface="Calibri" pitchFamily="34" charset="-122"/>
                <a:cs typeface="Calibri" pitchFamily="34" charset="-120"/>
              </a:rPr>
              <a:t>A page-by-page plan across four strands: phonics, handwriting, grammar and science. Built on the locked Single-Sound master and the 8-level Curriculum Ledger.</a:t>
            </a:r>
            <a:endParaRPr lang="en-US" sz="1500" dirty="0"/>
          </a:p>
        </p:txBody>
      </p:sp>
      <p:sp>
        <p:nvSpPr>
          <p:cNvPr id="6" name="Shape 4"/>
          <p:cNvSpPr/>
          <p:nvPr/>
        </p:nvSpPr>
        <p:spPr>
          <a:xfrm>
            <a:off x="822960" y="4480560"/>
            <a:ext cx="566928" cy="566928"/>
          </a:xfrm>
          <a:prstGeom prst="roundRect">
            <a:avLst>
              <a:gd name="adj" fmla="val 8065"/>
            </a:avLst>
          </a:prstGeom>
          <a:solidFill>
            <a:srgbClr val="E84B8A"/>
          </a:solidFill>
          <a:ln/>
        </p:spPr>
      </p:sp>
      <p:sp>
        <p:nvSpPr>
          <p:cNvPr id="7" name="Text 5"/>
          <p:cNvSpPr/>
          <p:nvPr/>
        </p:nvSpPr>
        <p:spPr>
          <a:xfrm>
            <a:off x="82296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8" name="Shape 6"/>
          <p:cNvSpPr/>
          <p:nvPr/>
        </p:nvSpPr>
        <p:spPr>
          <a:xfrm>
            <a:off x="1554480" y="4480560"/>
            <a:ext cx="566928" cy="566928"/>
          </a:xfrm>
          <a:prstGeom prst="roundRect">
            <a:avLst>
              <a:gd name="adj" fmla="val 8065"/>
            </a:avLst>
          </a:prstGeom>
          <a:solidFill>
            <a:srgbClr val="F97066"/>
          </a:solidFill>
          <a:ln/>
        </p:spPr>
      </p:sp>
      <p:sp>
        <p:nvSpPr>
          <p:cNvPr id="9" name="Text 7"/>
          <p:cNvSpPr/>
          <p:nvPr/>
        </p:nvSpPr>
        <p:spPr>
          <a:xfrm>
            <a:off x="155448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0" name="Shape 8"/>
          <p:cNvSpPr/>
          <p:nvPr/>
        </p:nvSpPr>
        <p:spPr>
          <a:xfrm>
            <a:off x="2286000" y="4480560"/>
            <a:ext cx="566928" cy="566928"/>
          </a:xfrm>
          <a:prstGeom prst="roundRect">
            <a:avLst>
              <a:gd name="adj" fmla="val 8065"/>
            </a:avLst>
          </a:prstGeom>
          <a:solidFill>
            <a:srgbClr val="F59E0B"/>
          </a:solidFill>
          <a:ln/>
        </p:spPr>
      </p:sp>
      <p:sp>
        <p:nvSpPr>
          <p:cNvPr id="11" name="Text 9"/>
          <p:cNvSpPr/>
          <p:nvPr/>
        </p:nvSpPr>
        <p:spPr>
          <a:xfrm>
            <a:off x="228600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12" name="Shape 10"/>
          <p:cNvSpPr/>
          <p:nvPr/>
        </p:nvSpPr>
        <p:spPr>
          <a:xfrm>
            <a:off x="3017520" y="4480560"/>
            <a:ext cx="566928" cy="566928"/>
          </a:xfrm>
          <a:prstGeom prst="roundRect">
            <a:avLst>
              <a:gd name="adj" fmla="val 8065"/>
            </a:avLst>
          </a:prstGeom>
          <a:solidFill>
            <a:srgbClr val="22C55E"/>
          </a:solidFill>
          <a:ln/>
        </p:spPr>
      </p:sp>
      <p:sp>
        <p:nvSpPr>
          <p:cNvPr id="13" name="Text 11"/>
          <p:cNvSpPr/>
          <p:nvPr/>
        </p:nvSpPr>
        <p:spPr>
          <a:xfrm>
            <a:off x="301752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14" name="Shape 12"/>
          <p:cNvSpPr/>
          <p:nvPr/>
        </p:nvSpPr>
        <p:spPr>
          <a:xfrm>
            <a:off x="3749040" y="4480560"/>
            <a:ext cx="566928" cy="566928"/>
          </a:xfrm>
          <a:prstGeom prst="roundRect">
            <a:avLst>
              <a:gd name="adj" fmla="val 8065"/>
            </a:avLst>
          </a:prstGeom>
          <a:solidFill>
            <a:srgbClr val="3B82F6"/>
          </a:solidFill>
          <a:ln/>
        </p:spPr>
      </p:sp>
      <p:sp>
        <p:nvSpPr>
          <p:cNvPr id="15" name="Text 13"/>
          <p:cNvSpPr/>
          <p:nvPr/>
        </p:nvSpPr>
        <p:spPr>
          <a:xfrm>
            <a:off x="374904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5</a:t>
            </a:r>
            <a:endParaRPr lang="en-US" sz="1300" dirty="0"/>
          </a:p>
        </p:txBody>
      </p:sp>
      <p:sp>
        <p:nvSpPr>
          <p:cNvPr id="16" name="Shape 14"/>
          <p:cNvSpPr/>
          <p:nvPr/>
        </p:nvSpPr>
        <p:spPr>
          <a:xfrm>
            <a:off x="4480560" y="4480560"/>
            <a:ext cx="566928" cy="566928"/>
          </a:xfrm>
          <a:prstGeom prst="roundRect">
            <a:avLst>
              <a:gd name="adj" fmla="val 8065"/>
            </a:avLst>
          </a:prstGeom>
          <a:solidFill>
            <a:srgbClr val="6366F1"/>
          </a:solidFill>
          <a:ln/>
        </p:spPr>
      </p:sp>
      <p:sp>
        <p:nvSpPr>
          <p:cNvPr id="17" name="Text 15"/>
          <p:cNvSpPr/>
          <p:nvPr/>
        </p:nvSpPr>
        <p:spPr>
          <a:xfrm>
            <a:off x="448056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6</a:t>
            </a:r>
            <a:endParaRPr lang="en-US" sz="1300" dirty="0"/>
          </a:p>
        </p:txBody>
      </p:sp>
      <p:sp>
        <p:nvSpPr>
          <p:cNvPr id="18" name="Shape 16"/>
          <p:cNvSpPr/>
          <p:nvPr/>
        </p:nvSpPr>
        <p:spPr>
          <a:xfrm>
            <a:off x="5212080" y="4480560"/>
            <a:ext cx="566928" cy="566928"/>
          </a:xfrm>
          <a:prstGeom prst="roundRect">
            <a:avLst>
              <a:gd name="adj" fmla="val 8065"/>
            </a:avLst>
          </a:prstGeom>
          <a:solidFill>
            <a:srgbClr val="8B5CF6"/>
          </a:solidFill>
          <a:ln/>
        </p:spPr>
      </p:sp>
      <p:sp>
        <p:nvSpPr>
          <p:cNvPr id="19" name="Text 17"/>
          <p:cNvSpPr/>
          <p:nvPr/>
        </p:nvSpPr>
        <p:spPr>
          <a:xfrm>
            <a:off x="521208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7</a:t>
            </a:r>
            <a:endParaRPr lang="en-US" sz="1300" dirty="0"/>
          </a:p>
        </p:txBody>
      </p:sp>
      <p:sp>
        <p:nvSpPr>
          <p:cNvPr id="20" name="Shape 18"/>
          <p:cNvSpPr/>
          <p:nvPr/>
        </p:nvSpPr>
        <p:spPr>
          <a:xfrm>
            <a:off x="5943600" y="4480560"/>
            <a:ext cx="566928" cy="566928"/>
          </a:xfrm>
          <a:prstGeom prst="roundRect">
            <a:avLst>
              <a:gd name="adj" fmla="val 8065"/>
            </a:avLst>
          </a:prstGeom>
          <a:solidFill>
            <a:srgbClr val="14B8A6"/>
          </a:solidFill>
          <a:ln/>
        </p:spPr>
      </p:sp>
      <p:sp>
        <p:nvSpPr>
          <p:cNvPr id="21" name="Text 19"/>
          <p:cNvSpPr/>
          <p:nvPr/>
        </p:nvSpPr>
        <p:spPr>
          <a:xfrm>
            <a:off x="5943600" y="44805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8</a:t>
            </a:r>
            <a:endParaRPr lang="en-US" sz="1300" dirty="0"/>
          </a:p>
        </p:txBody>
      </p:sp>
      <p:sp>
        <p:nvSpPr>
          <p:cNvPr id="22" name="Text 20"/>
          <p:cNvSpPr/>
          <p:nvPr/>
        </p:nvSpPr>
        <p:spPr>
          <a:xfrm>
            <a:off x="822960" y="5257800"/>
            <a:ext cx="10515600" cy="365760"/>
          </a:xfrm>
          <a:prstGeom prst="rect">
            <a:avLst/>
          </a:prstGeom>
          <a:noFill/>
          <a:ln/>
        </p:spPr>
        <p:txBody>
          <a:bodyPr wrap="square" lIns="0" tIns="0" rIns="0" bIns="0" rtlCol="0" anchor="ctr"/>
          <a:lstStyle/>
          <a:p>
            <a:pPr indent="0" marL="0">
              <a:buNone/>
            </a:pPr>
            <a:r>
              <a:rPr lang="en-US" sz="1300" i="1" dirty="0">
                <a:solidFill>
                  <a:srgbClr val="9D99C9"/>
                </a:solidFill>
                <a:latin typeface="Calibri" pitchFamily="34" charset="0"/>
                <a:ea typeface="Calibri" pitchFamily="34" charset="-122"/>
                <a:cs typeface="Calibri" pitchFamily="34" charset="-120"/>
              </a:rPr>
              <a:t>8 levels  ·  189 pages planned  ·  77 sound sheets  ·  1 template built, ~30 to build</a:t>
            </a:r>
            <a:endParaRPr lang="en-US" sz="1300" dirty="0"/>
          </a:p>
        </p:txBody>
      </p:sp>
      <p:sp>
        <p:nvSpPr>
          <p:cNvPr id="23" name="Text 21"/>
          <p:cNvSpPr/>
          <p:nvPr/>
        </p:nvSpPr>
        <p:spPr>
          <a:xfrm>
            <a:off x="822960" y="5943600"/>
            <a:ext cx="7315200" cy="274320"/>
          </a:xfrm>
          <a:prstGeom prst="rect">
            <a:avLst/>
          </a:prstGeom>
          <a:noFill/>
          <a:ln/>
        </p:spPr>
        <p:txBody>
          <a:bodyPr wrap="square" lIns="0" tIns="0" rIns="0" bIns="0" rtlCol="0" anchor="ctr"/>
          <a:lstStyle/>
          <a:p>
            <a:pPr indent="0" marL="0">
              <a:buNone/>
            </a:pPr>
            <a:r>
              <a:rPr lang="en-US" sz="1100" dirty="0">
                <a:solidFill>
                  <a:srgbClr val="7C78A8"/>
                </a:solidFill>
                <a:latin typeface="Calibri" pitchFamily="34" charset="0"/>
                <a:ea typeface="Calibri" pitchFamily="34" charset="-122"/>
                <a:cs typeface="Calibri" pitchFamily="34" charset="-120"/>
              </a:rPr>
              <a:t>Prepared for Lynden Cooke  ·  7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1E1B4B"/>
                </a:solidFill>
                <a:latin typeface="Trebuchet MS" pitchFamily="34" charset="0"/>
                <a:ea typeface="Trebuchet MS" pitchFamily="34" charset="-122"/>
                <a:cs typeface="Trebuchet MS" pitchFamily="34" charset="-120"/>
              </a:rPr>
              <a:t>Three decisions before any build</a:t>
            </a:r>
            <a:endParaRPr lang="en-US" sz="3200" dirty="0"/>
          </a:p>
        </p:txBody>
      </p:sp>
      <p:sp>
        <p:nvSpPr>
          <p:cNvPr id="3" name="Text 1"/>
          <p:cNvSpPr/>
          <p:nvPr/>
        </p:nvSpPr>
        <p:spPr>
          <a:xfrm>
            <a:off x="566928" y="1051560"/>
            <a:ext cx="1097280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Surfaced from the sources, not guessed. The ledger is the single source of truth.</a:t>
            </a:r>
            <a:endParaRPr lang="en-US" sz="1400" dirty="0"/>
          </a:p>
        </p:txBody>
      </p:sp>
      <p:sp>
        <p:nvSpPr>
          <p:cNvPr id="4" name="Shape 2"/>
          <p:cNvSpPr/>
          <p:nvPr/>
        </p:nvSpPr>
        <p:spPr>
          <a:xfrm>
            <a:off x="548640" y="1600200"/>
            <a:ext cx="11064240" cy="1463040"/>
          </a:xfrm>
          <a:prstGeom prst="rect">
            <a:avLst/>
          </a:prstGeom>
          <a:solidFill>
            <a:srgbClr val="FFFFFF"/>
          </a:solidFill>
          <a:ln w="12700">
            <a:solidFill>
              <a:srgbClr val="E5E7EB"/>
            </a:solidFill>
            <a:prstDash val="solid"/>
          </a:ln>
        </p:spPr>
      </p:sp>
      <p:sp>
        <p:nvSpPr>
          <p:cNvPr id="5" name="Shape 3"/>
          <p:cNvSpPr/>
          <p:nvPr/>
        </p:nvSpPr>
        <p:spPr>
          <a:xfrm>
            <a:off x="548640" y="1600200"/>
            <a:ext cx="109728" cy="1463040"/>
          </a:xfrm>
          <a:prstGeom prst="rect">
            <a:avLst/>
          </a:prstGeom>
          <a:solidFill>
            <a:srgbClr val="F59E0B"/>
          </a:solidFill>
          <a:ln/>
        </p:spPr>
      </p:sp>
      <p:sp>
        <p:nvSpPr>
          <p:cNvPr id="6" name="Shape 4"/>
          <p:cNvSpPr/>
          <p:nvPr/>
        </p:nvSpPr>
        <p:spPr>
          <a:xfrm>
            <a:off x="868680" y="1947672"/>
            <a:ext cx="768096" cy="768096"/>
          </a:xfrm>
          <a:prstGeom prst="ellipse">
            <a:avLst/>
          </a:prstGeom>
          <a:solidFill>
            <a:srgbClr val="F59E0B"/>
          </a:solidFill>
          <a:ln/>
        </p:spPr>
      </p:sp>
      <p:sp>
        <p:nvSpPr>
          <p:cNvPr id="7" name="Text 5"/>
          <p:cNvSpPr/>
          <p:nvPr/>
        </p:nvSpPr>
        <p:spPr>
          <a:xfrm>
            <a:off x="868680" y="1947672"/>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1</a:t>
            </a:r>
            <a:endParaRPr lang="en-US" sz="3000" dirty="0"/>
          </a:p>
        </p:txBody>
      </p:sp>
      <p:sp>
        <p:nvSpPr>
          <p:cNvPr id="8" name="Text 6"/>
          <p:cNvSpPr/>
          <p:nvPr/>
        </p:nvSpPr>
        <p:spPr>
          <a:xfrm>
            <a:off x="1920240" y="1783080"/>
            <a:ext cx="9418320" cy="457200"/>
          </a:xfrm>
          <a:prstGeom prst="rect">
            <a:avLst/>
          </a:prstGeom>
          <a:noFill/>
          <a:ln/>
        </p:spPr>
        <p:txBody>
          <a:bodyPr wrap="square" lIns="0" tIns="0" rIns="0" bIns="0" rtlCol="0" anchor="ctr"/>
          <a:lstStyle/>
          <a:p>
            <a:pPr indent="0" marL="0">
              <a:buNone/>
            </a:pPr>
            <a:r>
              <a:rPr lang="en-US" sz="2000" b="1" dirty="0">
                <a:solidFill>
                  <a:srgbClr val="1E1B4B"/>
                </a:solidFill>
                <a:latin typeface="Trebuchet MS" pitchFamily="34" charset="0"/>
                <a:ea typeface="Trebuchet MS" pitchFamily="34" charset="-122"/>
                <a:cs typeface="Trebuchet MS" pitchFamily="34" charset="-120"/>
              </a:rPr>
              <a:t>8 levels, not 6</a:t>
            </a:r>
            <a:endParaRPr lang="en-US" sz="2000" dirty="0"/>
          </a:p>
        </p:txBody>
      </p:sp>
      <p:sp>
        <p:nvSpPr>
          <p:cNvPr id="9" name="Text 7"/>
          <p:cNvSpPr/>
          <p:nvPr/>
        </p:nvSpPr>
        <p:spPr>
          <a:xfrm>
            <a:off x="1920240" y="2258568"/>
            <a:ext cx="9418320" cy="731520"/>
          </a:xfrm>
          <a:prstGeom prst="rect">
            <a:avLst/>
          </a:prstGeom>
          <a:noFill/>
          <a:ln/>
        </p:spPr>
        <p:txBody>
          <a:bodyPr wrap="square" lIns="0" tIns="0" rIns="0" bIns="0" rtlCol="0" anchor="ctr"/>
          <a:lstStyle/>
          <a:p>
            <a:pPr indent="0" marL="0">
              <a:buNone/>
            </a:pPr>
            <a:r>
              <a:rPr lang="en-US" sz="1350" dirty="0">
                <a:solidFill>
                  <a:srgbClr val="374151"/>
                </a:solidFill>
                <a:latin typeface="Calibri" pitchFamily="34" charset="0"/>
                <a:ea typeface="Calibri" pitchFamily="34" charset="-122"/>
                <a:cs typeface="Calibri" pitchFamily="34" charset="-120"/>
              </a:rPr>
              <a:t>The Drive PDF is the old v1.0 (6 levels). The repo ledger is v2.1 (8 levels) and matches levelThemes.ts and the migration prompt. Planned to 8. The Drive PDF needs re-exporting.</a:t>
            </a:r>
            <a:endParaRPr lang="en-US" sz="1350" dirty="0"/>
          </a:p>
        </p:txBody>
      </p:sp>
      <p:sp>
        <p:nvSpPr>
          <p:cNvPr id="10" name="Shape 8"/>
          <p:cNvSpPr/>
          <p:nvPr/>
        </p:nvSpPr>
        <p:spPr>
          <a:xfrm>
            <a:off x="548640" y="3227832"/>
            <a:ext cx="11064240" cy="1463040"/>
          </a:xfrm>
          <a:prstGeom prst="rect">
            <a:avLst/>
          </a:prstGeom>
          <a:solidFill>
            <a:srgbClr val="FFFFFF"/>
          </a:solidFill>
          <a:ln w="12700">
            <a:solidFill>
              <a:srgbClr val="E5E7EB"/>
            </a:solidFill>
            <a:prstDash val="solid"/>
          </a:ln>
        </p:spPr>
      </p:sp>
      <p:sp>
        <p:nvSpPr>
          <p:cNvPr id="11" name="Shape 9"/>
          <p:cNvSpPr/>
          <p:nvPr/>
        </p:nvSpPr>
        <p:spPr>
          <a:xfrm>
            <a:off x="548640" y="3227832"/>
            <a:ext cx="109728" cy="1463040"/>
          </a:xfrm>
          <a:prstGeom prst="rect">
            <a:avLst/>
          </a:prstGeom>
          <a:solidFill>
            <a:srgbClr val="E84B8A"/>
          </a:solidFill>
          <a:ln/>
        </p:spPr>
      </p:sp>
      <p:sp>
        <p:nvSpPr>
          <p:cNvPr id="12" name="Shape 10"/>
          <p:cNvSpPr/>
          <p:nvPr/>
        </p:nvSpPr>
        <p:spPr>
          <a:xfrm>
            <a:off x="868680" y="3575304"/>
            <a:ext cx="768096" cy="768096"/>
          </a:xfrm>
          <a:prstGeom prst="ellipse">
            <a:avLst/>
          </a:prstGeom>
          <a:solidFill>
            <a:srgbClr val="E84B8A"/>
          </a:solidFill>
          <a:ln/>
        </p:spPr>
      </p:sp>
      <p:sp>
        <p:nvSpPr>
          <p:cNvPr id="13" name="Text 11"/>
          <p:cNvSpPr/>
          <p:nvPr/>
        </p:nvSpPr>
        <p:spPr>
          <a:xfrm>
            <a:off x="868680" y="3575304"/>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2</a:t>
            </a:r>
            <a:endParaRPr lang="en-US" sz="3000" dirty="0"/>
          </a:p>
        </p:txBody>
      </p:sp>
      <p:sp>
        <p:nvSpPr>
          <p:cNvPr id="14" name="Text 12"/>
          <p:cNvSpPr/>
          <p:nvPr/>
        </p:nvSpPr>
        <p:spPr>
          <a:xfrm>
            <a:off x="1920240" y="3410712"/>
            <a:ext cx="9418320" cy="457200"/>
          </a:xfrm>
          <a:prstGeom prst="rect">
            <a:avLst/>
          </a:prstGeom>
          <a:noFill/>
          <a:ln/>
        </p:spPr>
        <p:txBody>
          <a:bodyPr wrap="square" lIns="0" tIns="0" rIns="0" bIns="0" rtlCol="0" anchor="ctr"/>
          <a:lstStyle/>
          <a:p>
            <a:pPr indent="0" marL="0">
              <a:buNone/>
            </a:pPr>
            <a:r>
              <a:rPr lang="en-US" sz="2000" b="1" dirty="0">
                <a:solidFill>
                  <a:srgbClr val="1E1B4B"/>
                </a:solidFill>
                <a:latin typeface="Trebuchet MS" pitchFamily="34" charset="0"/>
                <a:ea typeface="Trebuchet MS" pitchFamily="34" charset="-122"/>
                <a:cs typeface="Trebuchet MS" pitchFamily="34" charset="-120"/>
              </a:rPr>
              <a:t>“Science” has no source</a:t>
            </a:r>
            <a:endParaRPr lang="en-US" sz="2000" dirty="0"/>
          </a:p>
        </p:txBody>
      </p:sp>
      <p:sp>
        <p:nvSpPr>
          <p:cNvPr id="15" name="Text 13"/>
          <p:cNvSpPr/>
          <p:nvPr/>
        </p:nvSpPr>
        <p:spPr>
          <a:xfrm>
            <a:off x="1920240" y="3886200"/>
            <a:ext cx="9418320" cy="731520"/>
          </a:xfrm>
          <a:prstGeom prst="rect">
            <a:avLst/>
          </a:prstGeom>
          <a:noFill/>
          <a:ln/>
        </p:spPr>
        <p:txBody>
          <a:bodyPr wrap="square" lIns="0" tIns="0" rIns="0" bIns="0" rtlCol="0" anchor="ctr"/>
          <a:lstStyle/>
          <a:p>
            <a:pPr indent="0" marL="0">
              <a:buNone/>
            </a:pPr>
            <a:r>
              <a:rPr lang="en-US" sz="1350" dirty="0">
                <a:solidFill>
                  <a:srgbClr val="374151"/>
                </a:solidFill>
                <a:latin typeface="Calibri" pitchFamily="34" charset="0"/>
                <a:ea typeface="Calibri" pitchFamily="34" charset="-122"/>
                <a:cs typeface="Calibri" pitchFamily="34" charset="-120"/>
              </a:rPr>
              <a:t>Science appears nowhere as a strand. The only hit is the example word for grapheme 'sc' at L6. Not invented. Default: out of v1, optional “Word and World” page from existing cultural briefs.</a:t>
            </a:r>
            <a:endParaRPr lang="en-US" sz="1350" dirty="0"/>
          </a:p>
        </p:txBody>
      </p:sp>
      <p:sp>
        <p:nvSpPr>
          <p:cNvPr id="16" name="Shape 14"/>
          <p:cNvSpPr/>
          <p:nvPr/>
        </p:nvSpPr>
        <p:spPr>
          <a:xfrm>
            <a:off x="548640" y="4855464"/>
            <a:ext cx="11064240" cy="1463040"/>
          </a:xfrm>
          <a:prstGeom prst="rect">
            <a:avLst/>
          </a:prstGeom>
          <a:solidFill>
            <a:srgbClr val="FFFFFF"/>
          </a:solidFill>
          <a:ln w="12700">
            <a:solidFill>
              <a:srgbClr val="E5E7EB"/>
            </a:solidFill>
            <a:prstDash val="solid"/>
          </a:ln>
        </p:spPr>
      </p:sp>
      <p:sp>
        <p:nvSpPr>
          <p:cNvPr id="17" name="Shape 15"/>
          <p:cNvSpPr/>
          <p:nvPr/>
        </p:nvSpPr>
        <p:spPr>
          <a:xfrm>
            <a:off x="548640" y="4855464"/>
            <a:ext cx="109728" cy="1463040"/>
          </a:xfrm>
          <a:prstGeom prst="rect">
            <a:avLst/>
          </a:prstGeom>
          <a:solidFill>
            <a:srgbClr val="3B82F6"/>
          </a:solidFill>
          <a:ln/>
        </p:spPr>
      </p:sp>
      <p:sp>
        <p:nvSpPr>
          <p:cNvPr id="18" name="Shape 16"/>
          <p:cNvSpPr/>
          <p:nvPr/>
        </p:nvSpPr>
        <p:spPr>
          <a:xfrm>
            <a:off x="868680" y="5202936"/>
            <a:ext cx="768096" cy="768096"/>
          </a:xfrm>
          <a:prstGeom prst="ellipse">
            <a:avLst/>
          </a:prstGeom>
          <a:solidFill>
            <a:srgbClr val="3B82F6"/>
          </a:solidFill>
          <a:ln/>
        </p:spPr>
      </p:sp>
      <p:sp>
        <p:nvSpPr>
          <p:cNvPr id="19" name="Text 17"/>
          <p:cNvSpPr/>
          <p:nvPr/>
        </p:nvSpPr>
        <p:spPr>
          <a:xfrm>
            <a:off x="868680" y="5202936"/>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3</a:t>
            </a:r>
            <a:endParaRPr lang="en-US" sz="3000" dirty="0"/>
          </a:p>
        </p:txBody>
      </p:sp>
      <p:sp>
        <p:nvSpPr>
          <p:cNvPr id="20" name="Text 18"/>
          <p:cNvSpPr/>
          <p:nvPr/>
        </p:nvSpPr>
        <p:spPr>
          <a:xfrm>
            <a:off x="1920240" y="5038344"/>
            <a:ext cx="9418320" cy="457200"/>
          </a:xfrm>
          <a:prstGeom prst="rect">
            <a:avLst/>
          </a:prstGeom>
          <a:noFill/>
          <a:ln/>
        </p:spPr>
        <p:txBody>
          <a:bodyPr wrap="square" lIns="0" tIns="0" rIns="0" bIns="0" rtlCol="0" anchor="ctr"/>
          <a:lstStyle/>
          <a:p>
            <a:pPr indent="0" marL="0">
              <a:buNone/>
            </a:pPr>
            <a:r>
              <a:rPr lang="en-US" sz="2000" b="1" dirty="0">
                <a:solidFill>
                  <a:srgbClr val="1E1B4B"/>
                </a:solidFill>
                <a:latin typeface="Trebuchet MS" pitchFamily="34" charset="0"/>
                <a:ea typeface="Trebuchet MS" pitchFamily="34" charset="-122"/>
                <a:cs typeface="Trebuchet MS" pitchFamily="34" charset="-120"/>
              </a:rPr>
              <a:t>Data files are stale</a:t>
            </a:r>
            <a:endParaRPr lang="en-US" sz="2000" dirty="0"/>
          </a:p>
        </p:txBody>
      </p:sp>
      <p:sp>
        <p:nvSpPr>
          <p:cNvPr id="21" name="Text 19"/>
          <p:cNvSpPr/>
          <p:nvPr/>
        </p:nvSpPr>
        <p:spPr>
          <a:xfrm>
            <a:off x="1920240" y="5513832"/>
            <a:ext cx="9418320" cy="731520"/>
          </a:xfrm>
          <a:prstGeom prst="rect">
            <a:avLst/>
          </a:prstGeom>
          <a:noFill/>
          <a:ln/>
        </p:spPr>
        <p:txBody>
          <a:bodyPr wrap="square" lIns="0" tIns="0" rIns="0" bIns="0" rtlCol="0" anchor="ctr"/>
          <a:lstStyle/>
          <a:p>
            <a:pPr indent="0" marL="0">
              <a:buNone/>
            </a:pPr>
            <a:r>
              <a:rPr lang="en-US" sz="1350" dirty="0">
                <a:solidFill>
                  <a:srgbClr val="374151"/>
                </a:solidFill>
                <a:latin typeface="Calibri" pitchFamily="34" charset="0"/>
                <a:ea typeface="Calibri" pitchFamily="34" charset="-122"/>
                <a:cs typeface="Calibri" pitchFamily="34" charset="-120"/>
              </a:rPr>
              <a:t>graphemes_by_level.json and the book art folders are still 6-level. Page content is correct (from the ledger) but the data must be remapped before a template reads it live.</a:t>
            </a:r>
            <a:endParaRPr lang="en-US" sz="1350" dirty="0"/>
          </a:p>
        </p:txBody>
      </p:sp>
      <p:sp>
        <p:nvSpPr>
          <p:cNvPr id="22" name="Text 20"/>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23" name="Text 21"/>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Decisions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200" b="1" dirty="0">
                <a:solidFill>
                  <a:srgbClr val="1E1B4B"/>
                </a:solidFill>
                <a:latin typeface="Trebuchet MS" pitchFamily="34" charset="0"/>
                <a:ea typeface="Trebuchet MS" pitchFamily="34" charset="-122"/>
                <a:cs typeface="Trebuchet MS" pitchFamily="34" charset="-120"/>
              </a:rPr>
              <a:t>The 8-level system</a:t>
            </a:r>
            <a:endParaRPr lang="en-US" sz="3200" dirty="0"/>
          </a:p>
        </p:txBody>
      </p:sp>
      <p:sp>
        <p:nvSpPr>
          <p:cNvPr id="3" name="Text 1"/>
          <p:cNvSpPr/>
          <p:nvPr/>
        </p:nvSpPr>
        <p:spPr>
          <a:xfrm>
            <a:off x="566928" y="1051560"/>
            <a:ext cx="1106424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Aligned to RWI Speed Sound Sets and the KS1 National Curriculum. Each level has its own colour, read from getLevelTheme() and never hard-coded.</a:t>
            </a:r>
            <a:endParaRPr lang="en-US" sz="1400" dirty="0"/>
          </a:p>
        </p:txBody>
      </p:sp>
      <p:sp>
        <p:nvSpPr>
          <p:cNvPr id="4" name="Shape 2"/>
          <p:cNvSpPr/>
          <p:nvPr/>
        </p:nvSpPr>
        <p:spPr>
          <a:xfrm>
            <a:off x="548640" y="1691640"/>
            <a:ext cx="2697480" cy="2148840"/>
          </a:xfrm>
          <a:prstGeom prst="rect">
            <a:avLst/>
          </a:prstGeom>
          <a:solidFill>
            <a:srgbClr val="FFFFFF"/>
          </a:solidFill>
          <a:ln w="12700">
            <a:solidFill>
              <a:srgbClr val="E5E7EB"/>
            </a:solidFill>
            <a:prstDash val="solid"/>
          </a:ln>
        </p:spPr>
      </p:sp>
      <p:sp>
        <p:nvSpPr>
          <p:cNvPr id="5" name="Shape 3"/>
          <p:cNvSpPr/>
          <p:nvPr/>
        </p:nvSpPr>
        <p:spPr>
          <a:xfrm>
            <a:off x="548640" y="1691640"/>
            <a:ext cx="2697480" cy="566928"/>
          </a:xfrm>
          <a:prstGeom prst="rect">
            <a:avLst/>
          </a:prstGeom>
          <a:solidFill>
            <a:srgbClr val="E84B8A"/>
          </a:solidFill>
          <a:ln/>
        </p:spPr>
      </p:sp>
      <p:sp>
        <p:nvSpPr>
          <p:cNvPr id="6" name="Text 4"/>
          <p:cNvSpPr/>
          <p:nvPr/>
        </p:nvSpPr>
        <p:spPr>
          <a:xfrm>
            <a:off x="658368" y="174650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L1</a:t>
            </a:r>
            <a:endParaRPr lang="en-US" sz="2200" dirty="0"/>
          </a:p>
        </p:txBody>
      </p:sp>
      <p:sp>
        <p:nvSpPr>
          <p:cNvPr id="7" name="Text 5"/>
          <p:cNvSpPr/>
          <p:nvPr/>
        </p:nvSpPr>
        <p:spPr>
          <a:xfrm>
            <a:off x="1463040" y="174650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Ditties</a:t>
            </a:r>
            <a:endParaRPr lang="en-US" sz="1400" dirty="0"/>
          </a:p>
        </p:txBody>
      </p:sp>
      <p:sp>
        <p:nvSpPr>
          <p:cNvPr id="8" name="Text 6"/>
          <p:cNvSpPr/>
          <p:nvPr/>
        </p:nvSpPr>
        <p:spPr>
          <a:xfrm>
            <a:off x="676656" y="2350008"/>
            <a:ext cx="2441448" cy="274320"/>
          </a:xfrm>
          <a:prstGeom prst="rect">
            <a:avLst/>
          </a:prstGeom>
          <a:noFill/>
          <a:ln/>
        </p:spPr>
        <p:txBody>
          <a:bodyPr wrap="square" lIns="0" tIns="0" rIns="0" bIns="0" rtlCol="0" anchor="ctr"/>
          <a:lstStyle/>
          <a:p>
            <a:pPr indent="0" marL="0">
              <a:buNone/>
            </a:pPr>
            <a:r>
              <a:rPr lang="en-US" sz="1150" b="1" dirty="0">
                <a:solidFill>
                  <a:srgbClr val="E84B8A"/>
                </a:solidFill>
                <a:latin typeface="Calibri" pitchFamily="34" charset="0"/>
                <a:ea typeface="Calibri" pitchFamily="34" charset="-122"/>
                <a:cs typeface="Calibri" pitchFamily="34" charset="-120"/>
              </a:rPr>
              <a:t>Phase 2 (sets 1-2)</a:t>
            </a:r>
            <a:endParaRPr lang="en-US" sz="1150" dirty="0"/>
          </a:p>
        </p:txBody>
      </p:sp>
      <p:sp>
        <p:nvSpPr>
          <p:cNvPr id="9" name="Text 7"/>
          <p:cNvSpPr/>
          <p:nvPr/>
        </p:nvSpPr>
        <p:spPr>
          <a:xfrm>
            <a:off x="676656" y="260604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Reception 4-5</a:t>
            </a:r>
            <a:endParaRPr lang="en-US" sz="1050" dirty="0"/>
          </a:p>
        </p:txBody>
      </p:sp>
      <p:sp>
        <p:nvSpPr>
          <p:cNvPr id="10" name="Text 8"/>
          <p:cNvSpPr/>
          <p:nvPr/>
        </p:nvSpPr>
        <p:spPr>
          <a:xfrm>
            <a:off x="676656" y="291693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10 sounds</a:t>
            </a:r>
            <a:pPr indent="0" marL="0">
              <a:buNone/>
            </a:pPr>
            <a:r>
              <a:rPr lang="en-US" sz="1150" dirty="0">
                <a:solidFill>
                  <a:srgbClr val="374151"/>
                </a:solidFill>
                <a:latin typeface="Calibri" pitchFamily="34" charset="0"/>
                <a:ea typeface="Calibri" pitchFamily="34" charset="-122"/>
                <a:cs typeface="Calibri" pitchFamily="34" charset="-120"/>
              </a:rPr>
              <a:t>   ·   21 pages</a:t>
            </a:r>
            <a:endParaRPr lang="en-US" sz="1150" dirty="0"/>
          </a:p>
        </p:txBody>
      </p:sp>
      <p:sp>
        <p:nvSpPr>
          <p:cNvPr id="11" name="Text 9"/>
          <p:cNvSpPr/>
          <p:nvPr/>
        </p:nvSpPr>
        <p:spPr>
          <a:xfrm>
            <a:off x="676656" y="320954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s a t p i n m d g o</a:t>
            </a:r>
            <a:endParaRPr lang="en-US" sz="950" dirty="0"/>
          </a:p>
        </p:txBody>
      </p:sp>
      <p:sp>
        <p:nvSpPr>
          <p:cNvPr id="12" name="Shape 10"/>
          <p:cNvSpPr/>
          <p:nvPr/>
        </p:nvSpPr>
        <p:spPr>
          <a:xfrm>
            <a:off x="3410712" y="1691640"/>
            <a:ext cx="2697480" cy="2148840"/>
          </a:xfrm>
          <a:prstGeom prst="rect">
            <a:avLst/>
          </a:prstGeom>
          <a:solidFill>
            <a:srgbClr val="FFFFFF"/>
          </a:solidFill>
          <a:ln w="12700">
            <a:solidFill>
              <a:srgbClr val="E5E7EB"/>
            </a:solidFill>
            <a:prstDash val="solid"/>
          </a:ln>
        </p:spPr>
      </p:sp>
      <p:sp>
        <p:nvSpPr>
          <p:cNvPr id="13" name="Shape 11"/>
          <p:cNvSpPr/>
          <p:nvPr/>
        </p:nvSpPr>
        <p:spPr>
          <a:xfrm>
            <a:off x="3410712" y="1691640"/>
            <a:ext cx="2697480" cy="566928"/>
          </a:xfrm>
          <a:prstGeom prst="rect">
            <a:avLst/>
          </a:prstGeom>
          <a:solidFill>
            <a:srgbClr val="F97066"/>
          </a:solidFill>
          <a:ln/>
        </p:spPr>
      </p:sp>
      <p:sp>
        <p:nvSpPr>
          <p:cNvPr id="14" name="Text 12"/>
          <p:cNvSpPr/>
          <p:nvPr/>
        </p:nvSpPr>
        <p:spPr>
          <a:xfrm>
            <a:off x="3520440" y="174650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L2</a:t>
            </a:r>
            <a:endParaRPr lang="en-US" sz="2200" dirty="0"/>
          </a:p>
        </p:txBody>
      </p:sp>
      <p:sp>
        <p:nvSpPr>
          <p:cNvPr id="15" name="Text 13"/>
          <p:cNvSpPr/>
          <p:nvPr/>
        </p:nvSpPr>
        <p:spPr>
          <a:xfrm>
            <a:off x="4325112" y="174650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First Sounds</a:t>
            </a:r>
            <a:endParaRPr lang="en-US" sz="1400" dirty="0"/>
          </a:p>
        </p:txBody>
      </p:sp>
      <p:sp>
        <p:nvSpPr>
          <p:cNvPr id="16" name="Text 14"/>
          <p:cNvSpPr/>
          <p:nvPr/>
        </p:nvSpPr>
        <p:spPr>
          <a:xfrm>
            <a:off x="3538728" y="2350008"/>
            <a:ext cx="2441448" cy="274320"/>
          </a:xfrm>
          <a:prstGeom prst="rect">
            <a:avLst/>
          </a:prstGeom>
          <a:noFill/>
          <a:ln/>
        </p:spPr>
        <p:txBody>
          <a:bodyPr wrap="square" lIns="0" tIns="0" rIns="0" bIns="0" rtlCol="0" anchor="ctr"/>
          <a:lstStyle/>
          <a:p>
            <a:pPr indent="0" marL="0">
              <a:buNone/>
            </a:pPr>
            <a:r>
              <a:rPr lang="en-US" sz="1150" b="1" dirty="0">
                <a:solidFill>
                  <a:srgbClr val="F97066"/>
                </a:solidFill>
                <a:latin typeface="Calibri" pitchFamily="34" charset="0"/>
                <a:ea typeface="Calibri" pitchFamily="34" charset="-122"/>
                <a:cs typeface="Calibri" pitchFamily="34" charset="-120"/>
              </a:rPr>
              <a:t>Phase 2 (sets 3-5)</a:t>
            </a:r>
            <a:endParaRPr lang="en-US" sz="1150" dirty="0"/>
          </a:p>
        </p:txBody>
      </p:sp>
      <p:sp>
        <p:nvSpPr>
          <p:cNvPr id="17" name="Text 15"/>
          <p:cNvSpPr/>
          <p:nvPr/>
        </p:nvSpPr>
        <p:spPr>
          <a:xfrm>
            <a:off x="3538728" y="260604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Reception 4-5</a:t>
            </a:r>
            <a:endParaRPr lang="en-US" sz="1050" dirty="0"/>
          </a:p>
        </p:txBody>
      </p:sp>
      <p:sp>
        <p:nvSpPr>
          <p:cNvPr id="18" name="Text 16"/>
          <p:cNvSpPr/>
          <p:nvPr/>
        </p:nvSpPr>
        <p:spPr>
          <a:xfrm>
            <a:off x="3538728" y="291693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19 sounds</a:t>
            </a:r>
            <a:pPr indent="0" marL="0">
              <a:buNone/>
            </a:pPr>
            <a:r>
              <a:rPr lang="en-US" sz="1150" dirty="0">
                <a:solidFill>
                  <a:srgbClr val="374151"/>
                </a:solidFill>
                <a:latin typeface="Calibri" pitchFamily="34" charset="0"/>
                <a:ea typeface="Calibri" pitchFamily="34" charset="-122"/>
                <a:cs typeface="Calibri" pitchFamily="34" charset="-120"/>
              </a:rPr>
              <a:t>   ·   31 pages</a:t>
            </a:r>
            <a:endParaRPr lang="en-US" sz="1150" dirty="0"/>
          </a:p>
        </p:txBody>
      </p:sp>
      <p:sp>
        <p:nvSpPr>
          <p:cNvPr id="19" name="Text 17"/>
          <p:cNvSpPr/>
          <p:nvPr/>
        </p:nvSpPr>
        <p:spPr>
          <a:xfrm>
            <a:off x="3538728" y="320954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c k ck e u r h b f ff l ll ss j v w x y z</a:t>
            </a:r>
            <a:endParaRPr lang="en-US" sz="950" dirty="0"/>
          </a:p>
        </p:txBody>
      </p:sp>
      <p:sp>
        <p:nvSpPr>
          <p:cNvPr id="20" name="Shape 18"/>
          <p:cNvSpPr/>
          <p:nvPr/>
        </p:nvSpPr>
        <p:spPr>
          <a:xfrm>
            <a:off x="6272784" y="1691640"/>
            <a:ext cx="2697480" cy="2148840"/>
          </a:xfrm>
          <a:prstGeom prst="rect">
            <a:avLst/>
          </a:prstGeom>
          <a:solidFill>
            <a:srgbClr val="FFFFFF"/>
          </a:solidFill>
          <a:ln w="12700">
            <a:solidFill>
              <a:srgbClr val="E5E7EB"/>
            </a:solidFill>
            <a:prstDash val="solid"/>
          </a:ln>
        </p:spPr>
      </p:sp>
      <p:sp>
        <p:nvSpPr>
          <p:cNvPr id="21" name="Shape 19"/>
          <p:cNvSpPr/>
          <p:nvPr/>
        </p:nvSpPr>
        <p:spPr>
          <a:xfrm>
            <a:off x="6272784" y="1691640"/>
            <a:ext cx="2697480" cy="566928"/>
          </a:xfrm>
          <a:prstGeom prst="rect">
            <a:avLst/>
          </a:prstGeom>
          <a:solidFill>
            <a:srgbClr val="F59E0B"/>
          </a:solidFill>
          <a:ln/>
        </p:spPr>
      </p:sp>
      <p:sp>
        <p:nvSpPr>
          <p:cNvPr id="22" name="Text 20"/>
          <p:cNvSpPr/>
          <p:nvPr/>
        </p:nvSpPr>
        <p:spPr>
          <a:xfrm>
            <a:off x="6382512" y="174650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L3</a:t>
            </a:r>
            <a:endParaRPr lang="en-US" sz="2200" dirty="0"/>
          </a:p>
        </p:txBody>
      </p:sp>
      <p:sp>
        <p:nvSpPr>
          <p:cNvPr id="23" name="Text 21"/>
          <p:cNvSpPr/>
          <p:nvPr/>
        </p:nvSpPr>
        <p:spPr>
          <a:xfrm>
            <a:off x="7187184" y="174650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Special Friends</a:t>
            </a:r>
            <a:endParaRPr lang="en-US" sz="1400" dirty="0"/>
          </a:p>
        </p:txBody>
      </p:sp>
      <p:sp>
        <p:nvSpPr>
          <p:cNvPr id="24" name="Text 22"/>
          <p:cNvSpPr/>
          <p:nvPr/>
        </p:nvSpPr>
        <p:spPr>
          <a:xfrm>
            <a:off x="6400800" y="2350008"/>
            <a:ext cx="2441448" cy="274320"/>
          </a:xfrm>
          <a:prstGeom prst="rect">
            <a:avLst/>
          </a:prstGeom>
          <a:noFill/>
          <a:ln/>
        </p:spPr>
        <p:txBody>
          <a:bodyPr wrap="square" lIns="0" tIns="0" rIns="0" bIns="0" rtlCol="0" anchor="ctr"/>
          <a:lstStyle/>
          <a:p>
            <a:pPr indent="0" marL="0">
              <a:buNone/>
            </a:pPr>
            <a:r>
              <a:rPr lang="en-US" sz="1150" b="1" dirty="0">
                <a:solidFill>
                  <a:srgbClr val="F59E0B"/>
                </a:solidFill>
                <a:latin typeface="Calibri" pitchFamily="34" charset="0"/>
                <a:ea typeface="Calibri" pitchFamily="34" charset="-122"/>
                <a:cs typeface="Calibri" pitchFamily="34" charset="-120"/>
              </a:rPr>
              <a:t>Phase 3 digraphs</a:t>
            </a:r>
            <a:endParaRPr lang="en-US" sz="1150" dirty="0"/>
          </a:p>
        </p:txBody>
      </p:sp>
      <p:sp>
        <p:nvSpPr>
          <p:cNvPr id="25" name="Text 23"/>
          <p:cNvSpPr/>
          <p:nvPr/>
        </p:nvSpPr>
        <p:spPr>
          <a:xfrm>
            <a:off x="6400800" y="260604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Reception late 4-5</a:t>
            </a:r>
            <a:endParaRPr lang="en-US" sz="1050" dirty="0"/>
          </a:p>
        </p:txBody>
      </p:sp>
      <p:sp>
        <p:nvSpPr>
          <p:cNvPr id="26" name="Text 24"/>
          <p:cNvSpPr/>
          <p:nvPr/>
        </p:nvSpPr>
        <p:spPr>
          <a:xfrm>
            <a:off x="6400800" y="291693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7 sounds</a:t>
            </a:r>
            <a:pPr indent="0" marL="0">
              <a:buNone/>
            </a:pPr>
            <a:r>
              <a:rPr lang="en-US" sz="1150" dirty="0">
                <a:solidFill>
                  <a:srgbClr val="374151"/>
                </a:solidFill>
                <a:latin typeface="Calibri" pitchFamily="34" charset="0"/>
                <a:ea typeface="Calibri" pitchFamily="34" charset="-122"/>
                <a:cs typeface="Calibri" pitchFamily="34" charset="-120"/>
              </a:rPr>
              <a:t>   ·   20 pages</a:t>
            </a:r>
            <a:endParaRPr lang="en-US" sz="1150" dirty="0"/>
          </a:p>
        </p:txBody>
      </p:sp>
      <p:sp>
        <p:nvSpPr>
          <p:cNvPr id="27" name="Text 25"/>
          <p:cNvSpPr/>
          <p:nvPr/>
        </p:nvSpPr>
        <p:spPr>
          <a:xfrm>
            <a:off x="6400800" y="320954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sh nk ch th ng qu zz</a:t>
            </a:r>
            <a:endParaRPr lang="en-US" sz="950" dirty="0"/>
          </a:p>
        </p:txBody>
      </p:sp>
      <p:sp>
        <p:nvSpPr>
          <p:cNvPr id="28" name="Shape 26"/>
          <p:cNvSpPr/>
          <p:nvPr/>
        </p:nvSpPr>
        <p:spPr>
          <a:xfrm>
            <a:off x="9134856" y="1691640"/>
            <a:ext cx="2697480" cy="2148840"/>
          </a:xfrm>
          <a:prstGeom prst="rect">
            <a:avLst/>
          </a:prstGeom>
          <a:solidFill>
            <a:srgbClr val="FFFFFF"/>
          </a:solidFill>
          <a:ln w="12700">
            <a:solidFill>
              <a:srgbClr val="E5E7EB"/>
            </a:solidFill>
            <a:prstDash val="solid"/>
          </a:ln>
        </p:spPr>
      </p:sp>
      <p:sp>
        <p:nvSpPr>
          <p:cNvPr id="29" name="Shape 27"/>
          <p:cNvSpPr/>
          <p:nvPr/>
        </p:nvSpPr>
        <p:spPr>
          <a:xfrm>
            <a:off x="9134856" y="1691640"/>
            <a:ext cx="2697480" cy="566928"/>
          </a:xfrm>
          <a:prstGeom prst="rect">
            <a:avLst/>
          </a:prstGeom>
          <a:solidFill>
            <a:srgbClr val="22C55E"/>
          </a:solidFill>
          <a:ln/>
        </p:spPr>
      </p:sp>
      <p:sp>
        <p:nvSpPr>
          <p:cNvPr id="30" name="Text 28"/>
          <p:cNvSpPr/>
          <p:nvPr/>
        </p:nvSpPr>
        <p:spPr>
          <a:xfrm>
            <a:off x="9244584" y="174650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L4</a:t>
            </a:r>
            <a:endParaRPr lang="en-US" sz="2200" dirty="0"/>
          </a:p>
        </p:txBody>
      </p:sp>
      <p:sp>
        <p:nvSpPr>
          <p:cNvPr id="31" name="Text 29"/>
          <p:cNvSpPr/>
          <p:nvPr/>
        </p:nvSpPr>
        <p:spPr>
          <a:xfrm>
            <a:off x="10049256" y="174650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Longer Sounds</a:t>
            </a:r>
            <a:endParaRPr lang="en-US" sz="1400" dirty="0"/>
          </a:p>
        </p:txBody>
      </p:sp>
      <p:sp>
        <p:nvSpPr>
          <p:cNvPr id="32" name="Text 30"/>
          <p:cNvSpPr/>
          <p:nvPr/>
        </p:nvSpPr>
        <p:spPr>
          <a:xfrm>
            <a:off x="9262872" y="2350008"/>
            <a:ext cx="2441448" cy="274320"/>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RWI Set 2 vowels</a:t>
            </a:r>
            <a:endParaRPr lang="en-US" sz="1150" dirty="0"/>
          </a:p>
        </p:txBody>
      </p:sp>
      <p:sp>
        <p:nvSpPr>
          <p:cNvPr id="33" name="Text 31"/>
          <p:cNvSpPr/>
          <p:nvPr/>
        </p:nvSpPr>
        <p:spPr>
          <a:xfrm>
            <a:off x="9262872" y="260604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Reception-Y1 4-6</a:t>
            </a:r>
            <a:endParaRPr lang="en-US" sz="1050" dirty="0"/>
          </a:p>
        </p:txBody>
      </p:sp>
      <p:sp>
        <p:nvSpPr>
          <p:cNvPr id="34" name="Text 32"/>
          <p:cNvSpPr/>
          <p:nvPr/>
        </p:nvSpPr>
        <p:spPr>
          <a:xfrm>
            <a:off x="9262872" y="291693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11 sounds</a:t>
            </a:r>
            <a:pPr indent="0" marL="0">
              <a:buNone/>
            </a:pPr>
            <a:r>
              <a:rPr lang="en-US" sz="1150" dirty="0">
                <a:solidFill>
                  <a:srgbClr val="374151"/>
                </a:solidFill>
                <a:latin typeface="Calibri" pitchFamily="34" charset="0"/>
                <a:ea typeface="Calibri" pitchFamily="34" charset="-122"/>
                <a:cs typeface="Calibri" pitchFamily="34" charset="-120"/>
              </a:rPr>
              <a:t>   ·   24 pages</a:t>
            </a:r>
            <a:endParaRPr lang="en-US" sz="1150" dirty="0"/>
          </a:p>
        </p:txBody>
      </p:sp>
      <p:sp>
        <p:nvSpPr>
          <p:cNvPr id="35" name="Text 33"/>
          <p:cNvSpPr/>
          <p:nvPr/>
        </p:nvSpPr>
        <p:spPr>
          <a:xfrm>
            <a:off x="9262872" y="320954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ay ee igh ow oo ar or air ir ou oy</a:t>
            </a:r>
            <a:endParaRPr lang="en-US" sz="950" dirty="0"/>
          </a:p>
        </p:txBody>
      </p:sp>
      <p:sp>
        <p:nvSpPr>
          <p:cNvPr id="36" name="Shape 34"/>
          <p:cNvSpPr/>
          <p:nvPr/>
        </p:nvSpPr>
        <p:spPr>
          <a:xfrm>
            <a:off x="548640" y="4023360"/>
            <a:ext cx="2697480" cy="2148840"/>
          </a:xfrm>
          <a:prstGeom prst="rect">
            <a:avLst/>
          </a:prstGeom>
          <a:solidFill>
            <a:srgbClr val="FFFFFF"/>
          </a:solidFill>
          <a:ln w="12700">
            <a:solidFill>
              <a:srgbClr val="E5E7EB"/>
            </a:solidFill>
            <a:prstDash val="solid"/>
          </a:ln>
        </p:spPr>
      </p:sp>
      <p:sp>
        <p:nvSpPr>
          <p:cNvPr id="37" name="Shape 35"/>
          <p:cNvSpPr/>
          <p:nvPr/>
        </p:nvSpPr>
        <p:spPr>
          <a:xfrm>
            <a:off x="548640" y="4023360"/>
            <a:ext cx="2697480" cy="566928"/>
          </a:xfrm>
          <a:prstGeom prst="rect">
            <a:avLst/>
          </a:prstGeom>
          <a:solidFill>
            <a:srgbClr val="3B82F6"/>
          </a:solidFill>
          <a:ln/>
        </p:spPr>
      </p:sp>
      <p:sp>
        <p:nvSpPr>
          <p:cNvPr id="38" name="Text 36"/>
          <p:cNvSpPr/>
          <p:nvPr/>
        </p:nvSpPr>
        <p:spPr>
          <a:xfrm>
            <a:off x="658368" y="407822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L5</a:t>
            </a:r>
            <a:endParaRPr lang="en-US" sz="2200" dirty="0"/>
          </a:p>
        </p:txBody>
      </p:sp>
      <p:sp>
        <p:nvSpPr>
          <p:cNvPr id="39" name="Text 37"/>
          <p:cNvSpPr/>
          <p:nvPr/>
        </p:nvSpPr>
        <p:spPr>
          <a:xfrm>
            <a:off x="1463040" y="407822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New Spellings</a:t>
            </a:r>
            <a:endParaRPr lang="en-US" sz="1400" dirty="0"/>
          </a:p>
        </p:txBody>
      </p:sp>
      <p:sp>
        <p:nvSpPr>
          <p:cNvPr id="40" name="Text 38"/>
          <p:cNvSpPr/>
          <p:nvPr/>
        </p:nvSpPr>
        <p:spPr>
          <a:xfrm>
            <a:off x="676656" y="4681728"/>
            <a:ext cx="2441448" cy="274320"/>
          </a:xfrm>
          <a:prstGeom prst="rect">
            <a:avLst/>
          </a:prstGeom>
          <a:noFill/>
          <a:ln/>
        </p:spPr>
        <p:txBody>
          <a:bodyPr wrap="square" lIns="0" tIns="0" rIns="0" bIns="0" rtlCol="0" anchor="ctr"/>
          <a:lstStyle/>
          <a:p>
            <a:pPr indent="0" marL="0">
              <a:buNone/>
            </a:pPr>
            <a:r>
              <a:rPr lang="en-US" sz="1150" b="1" dirty="0">
                <a:solidFill>
                  <a:srgbClr val="3B82F6"/>
                </a:solidFill>
                <a:latin typeface="Calibri" pitchFamily="34" charset="0"/>
                <a:ea typeface="Calibri" pitchFamily="34" charset="-122"/>
                <a:cs typeface="Calibri" pitchFamily="34" charset="-120"/>
              </a:rPr>
              <a:t>Phase 5 split digraphs</a:t>
            </a:r>
            <a:endParaRPr lang="en-US" sz="1150" dirty="0"/>
          </a:p>
        </p:txBody>
      </p:sp>
      <p:sp>
        <p:nvSpPr>
          <p:cNvPr id="41" name="Text 39"/>
          <p:cNvSpPr/>
          <p:nvPr/>
        </p:nvSpPr>
        <p:spPr>
          <a:xfrm>
            <a:off x="676656" y="493776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Year 1 5-6</a:t>
            </a:r>
            <a:endParaRPr lang="en-US" sz="1050" dirty="0"/>
          </a:p>
        </p:txBody>
      </p:sp>
      <p:sp>
        <p:nvSpPr>
          <p:cNvPr id="42" name="Text 40"/>
          <p:cNvSpPr/>
          <p:nvPr/>
        </p:nvSpPr>
        <p:spPr>
          <a:xfrm>
            <a:off x="676656" y="524865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10 sounds</a:t>
            </a:r>
            <a:pPr indent="0" marL="0">
              <a:buNone/>
            </a:pPr>
            <a:r>
              <a:rPr lang="en-US" sz="1150" dirty="0">
                <a:solidFill>
                  <a:srgbClr val="374151"/>
                </a:solidFill>
                <a:latin typeface="Calibri" pitchFamily="34" charset="0"/>
                <a:ea typeface="Calibri" pitchFamily="34" charset="-122"/>
                <a:cs typeface="Calibri" pitchFamily="34" charset="-120"/>
              </a:rPr>
              <a:t>   ·   25 pages</a:t>
            </a:r>
            <a:endParaRPr lang="en-US" sz="1150" dirty="0"/>
          </a:p>
        </p:txBody>
      </p:sp>
      <p:sp>
        <p:nvSpPr>
          <p:cNvPr id="43" name="Text 41"/>
          <p:cNvSpPr/>
          <p:nvPr/>
        </p:nvSpPr>
        <p:spPr>
          <a:xfrm>
            <a:off x="676656" y="554126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a-e i-e o-e u-e ea ie oi aw ai oa</a:t>
            </a:r>
            <a:endParaRPr lang="en-US" sz="950" dirty="0"/>
          </a:p>
        </p:txBody>
      </p:sp>
      <p:sp>
        <p:nvSpPr>
          <p:cNvPr id="44" name="Shape 42"/>
          <p:cNvSpPr/>
          <p:nvPr/>
        </p:nvSpPr>
        <p:spPr>
          <a:xfrm>
            <a:off x="3410712" y="4023360"/>
            <a:ext cx="2697480" cy="2148840"/>
          </a:xfrm>
          <a:prstGeom prst="rect">
            <a:avLst/>
          </a:prstGeom>
          <a:solidFill>
            <a:srgbClr val="FFFFFF"/>
          </a:solidFill>
          <a:ln w="12700">
            <a:solidFill>
              <a:srgbClr val="E5E7EB"/>
            </a:solidFill>
            <a:prstDash val="solid"/>
          </a:ln>
        </p:spPr>
      </p:sp>
      <p:sp>
        <p:nvSpPr>
          <p:cNvPr id="45" name="Shape 43"/>
          <p:cNvSpPr/>
          <p:nvPr/>
        </p:nvSpPr>
        <p:spPr>
          <a:xfrm>
            <a:off x="3410712" y="4023360"/>
            <a:ext cx="2697480" cy="566928"/>
          </a:xfrm>
          <a:prstGeom prst="rect">
            <a:avLst/>
          </a:prstGeom>
          <a:solidFill>
            <a:srgbClr val="6366F1"/>
          </a:solidFill>
          <a:ln/>
        </p:spPr>
      </p:sp>
      <p:sp>
        <p:nvSpPr>
          <p:cNvPr id="46" name="Text 44"/>
          <p:cNvSpPr/>
          <p:nvPr/>
        </p:nvSpPr>
        <p:spPr>
          <a:xfrm>
            <a:off x="3520440" y="407822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L6</a:t>
            </a:r>
            <a:endParaRPr lang="en-US" sz="2200" dirty="0"/>
          </a:p>
        </p:txBody>
      </p:sp>
      <p:sp>
        <p:nvSpPr>
          <p:cNvPr id="47" name="Text 45"/>
          <p:cNvSpPr/>
          <p:nvPr/>
        </p:nvSpPr>
        <p:spPr>
          <a:xfrm>
            <a:off x="4325112" y="407822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Building Fluency</a:t>
            </a:r>
            <a:endParaRPr lang="en-US" sz="1400" dirty="0"/>
          </a:p>
        </p:txBody>
      </p:sp>
      <p:sp>
        <p:nvSpPr>
          <p:cNvPr id="48" name="Text 46"/>
          <p:cNvSpPr/>
          <p:nvPr/>
        </p:nvSpPr>
        <p:spPr>
          <a:xfrm>
            <a:off x="3538728" y="4681728"/>
            <a:ext cx="2441448" cy="274320"/>
          </a:xfrm>
          <a:prstGeom prst="rect">
            <a:avLst/>
          </a:prstGeom>
          <a:noFill/>
          <a:ln/>
        </p:spPr>
        <p:txBody>
          <a:bodyPr wrap="square" lIns="0" tIns="0" rIns="0" bIns="0" rtlCol="0" anchor="ctr"/>
          <a:lstStyle/>
          <a:p>
            <a:pPr indent="0" marL="0">
              <a:buNone/>
            </a:pPr>
            <a:r>
              <a:rPr lang="en-US" sz="1150" b="1" dirty="0">
                <a:solidFill>
                  <a:srgbClr val="6366F1"/>
                </a:solidFill>
                <a:latin typeface="Calibri" pitchFamily="34" charset="0"/>
                <a:ea typeface="Calibri" pitchFamily="34" charset="-122"/>
                <a:cs typeface="Calibri" pitchFamily="34" charset="-120"/>
              </a:rPr>
              <a:t>Phase 5 alternatives</a:t>
            </a:r>
            <a:endParaRPr lang="en-US" sz="1150" dirty="0"/>
          </a:p>
        </p:txBody>
      </p:sp>
      <p:sp>
        <p:nvSpPr>
          <p:cNvPr id="49" name="Text 47"/>
          <p:cNvSpPr/>
          <p:nvPr/>
        </p:nvSpPr>
        <p:spPr>
          <a:xfrm>
            <a:off x="3538728" y="493776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Y1-Y2 5-7</a:t>
            </a:r>
            <a:endParaRPr lang="en-US" sz="1050" dirty="0"/>
          </a:p>
        </p:txBody>
      </p:sp>
      <p:sp>
        <p:nvSpPr>
          <p:cNvPr id="50" name="Text 48"/>
          <p:cNvSpPr/>
          <p:nvPr/>
        </p:nvSpPr>
        <p:spPr>
          <a:xfrm>
            <a:off x="3538728" y="524865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14 sounds</a:t>
            </a:r>
            <a:pPr indent="0" marL="0">
              <a:buNone/>
            </a:pPr>
            <a:r>
              <a:rPr lang="en-US" sz="1150" dirty="0">
                <a:solidFill>
                  <a:srgbClr val="374151"/>
                </a:solidFill>
                <a:latin typeface="Calibri" pitchFamily="34" charset="0"/>
                <a:ea typeface="Calibri" pitchFamily="34" charset="-122"/>
                <a:cs typeface="Calibri" pitchFamily="34" charset="-120"/>
              </a:rPr>
              <a:t>   ·   29 pages</a:t>
            </a:r>
            <a:endParaRPr lang="en-US" sz="1150" dirty="0"/>
          </a:p>
        </p:txBody>
      </p:sp>
      <p:sp>
        <p:nvSpPr>
          <p:cNvPr id="51" name="Text 49"/>
          <p:cNvSpPr/>
          <p:nvPr/>
        </p:nvSpPr>
        <p:spPr>
          <a:xfrm>
            <a:off x="3538728" y="554126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ur er are ow ew ue + wr kn ge dge mb gn ph wh</a:t>
            </a:r>
            <a:endParaRPr lang="en-US" sz="950" dirty="0"/>
          </a:p>
        </p:txBody>
      </p:sp>
      <p:sp>
        <p:nvSpPr>
          <p:cNvPr id="52" name="Shape 50"/>
          <p:cNvSpPr/>
          <p:nvPr/>
        </p:nvSpPr>
        <p:spPr>
          <a:xfrm>
            <a:off x="6272784" y="4023360"/>
            <a:ext cx="2697480" cy="2148840"/>
          </a:xfrm>
          <a:prstGeom prst="rect">
            <a:avLst/>
          </a:prstGeom>
          <a:solidFill>
            <a:srgbClr val="FFFFFF"/>
          </a:solidFill>
          <a:ln w="12700">
            <a:solidFill>
              <a:srgbClr val="E5E7EB"/>
            </a:solidFill>
            <a:prstDash val="solid"/>
          </a:ln>
        </p:spPr>
      </p:sp>
      <p:sp>
        <p:nvSpPr>
          <p:cNvPr id="53" name="Shape 51"/>
          <p:cNvSpPr/>
          <p:nvPr/>
        </p:nvSpPr>
        <p:spPr>
          <a:xfrm>
            <a:off x="6272784" y="4023360"/>
            <a:ext cx="2697480" cy="566928"/>
          </a:xfrm>
          <a:prstGeom prst="rect">
            <a:avLst/>
          </a:prstGeom>
          <a:solidFill>
            <a:srgbClr val="8B5CF6"/>
          </a:solidFill>
          <a:ln/>
        </p:spPr>
      </p:sp>
      <p:sp>
        <p:nvSpPr>
          <p:cNvPr id="54" name="Text 52"/>
          <p:cNvSpPr/>
          <p:nvPr/>
        </p:nvSpPr>
        <p:spPr>
          <a:xfrm>
            <a:off x="6382512" y="407822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L7</a:t>
            </a:r>
            <a:endParaRPr lang="en-US" sz="2200" dirty="0"/>
          </a:p>
        </p:txBody>
      </p:sp>
      <p:sp>
        <p:nvSpPr>
          <p:cNvPr id="55" name="Text 53"/>
          <p:cNvSpPr/>
          <p:nvPr/>
        </p:nvSpPr>
        <p:spPr>
          <a:xfrm>
            <a:off x="7187184" y="407822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Reading Together</a:t>
            </a:r>
            <a:endParaRPr lang="en-US" sz="1400" dirty="0"/>
          </a:p>
        </p:txBody>
      </p:sp>
      <p:sp>
        <p:nvSpPr>
          <p:cNvPr id="56" name="Text 54"/>
          <p:cNvSpPr/>
          <p:nvPr/>
        </p:nvSpPr>
        <p:spPr>
          <a:xfrm>
            <a:off x="6400800" y="4681728"/>
            <a:ext cx="2441448" cy="274320"/>
          </a:xfrm>
          <a:prstGeom prst="rect">
            <a:avLst/>
          </a:prstGeom>
          <a:noFill/>
          <a:ln/>
        </p:spPr>
        <p:txBody>
          <a:bodyPr wrap="square" lIns="0" tIns="0" rIns="0" bIns="0" rtlCol="0" anchor="ctr"/>
          <a:lstStyle/>
          <a:p>
            <a:pPr indent="0" marL="0">
              <a:buNone/>
            </a:pPr>
            <a:r>
              <a:rPr lang="en-US" sz="1150" b="1" dirty="0">
                <a:solidFill>
                  <a:srgbClr val="8B5CF6"/>
                </a:solidFill>
                <a:latin typeface="Calibri" pitchFamily="34" charset="0"/>
                <a:ea typeface="Calibri" pitchFamily="34" charset="-122"/>
                <a:cs typeface="Calibri" pitchFamily="34" charset="-120"/>
              </a:rPr>
              <a:t>Phase 5 trigraphs</a:t>
            </a:r>
            <a:endParaRPr lang="en-US" sz="1150" dirty="0"/>
          </a:p>
        </p:txBody>
      </p:sp>
      <p:sp>
        <p:nvSpPr>
          <p:cNvPr id="57" name="Text 55"/>
          <p:cNvSpPr/>
          <p:nvPr/>
        </p:nvSpPr>
        <p:spPr>
          <a:xfrm>
            <a:off x="6400800" y="493776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Year 2 6-7</a:t>
            </a:r>
            <a:endParaRPr lang="en-US" sz="1050" dirty="0"/>
          </a:p>
        </p:txBody>
      </p:sp>
      <p:sp>
        <p:nvSpPr>
          <p:cNvPr id="58" name="Text 56"/>
          <p:cNvSpPr/>
          <p:nvPr/>
        </p:nvSpPr>
        <p:spPr>
          <a:xfrm>
            <a:off x="6400800" y="524865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6 sounds</a:t>
            </a:r>
            <a:pPr indent="0" marL="0">
              <a:buNone/>
            </a:pPr>
            <a:r>
              <a:rPr lang="en-US" sz="1150" dirty="0">
                <a:solidFill>
                  <a:srgbClr val="374151"/>
                </a:solidFill>
                <a:latin typeface="Calibri" pitchFamily="34" charset="0"/>
                <a:ea typeface="Calibri" pitchFamily="34" charset="-122"/>
                <a:cs typeface="Calibri" pitchFamily="34" charset="-120"/>
              </a:rPr>
              <a:t>   ·   20 pages</a:t>
            </a:r>
            <a:endParaRPr lang="en-US" sz="1150" dirty="0"/>
          </a:p>
        </p:txBody>
      </p:sp>
      <p:sp>
        <p:nvSpPr>
          <p:cNvPr id="59" name="Text 57"/>
          <p:cNvSpPr/>
          <p:nvPr/>
        </p:nvSpPr>
        <p:spPr>
          <a:xfrm>
            <a:off x="6400800" y="554126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ire ore ear oor ure tion</a:t>
            </a:r>
            <a:endParaRPr lang="en-US" sz="950" dirty="0"/>
          </a:p>
        </p:txBody>
      </p:sp>
      <p:sp>
        <p:nvSpPr>
          <p:cNvPr id="60" name="Shape 58"/>
          <p:cNvSpPr/>
          <p:nvPr/>
        </p:nvSpPr>
        <p:spPr>
          <a:xfrm>
            <a:off x="9134856" y="4023360"/>
            <a:ext cx="2697480" cy="2148840"/>
          </a:xfrm>
          <a:prstGeom prst="rect">
            <a:avLst/>
          </a:prstGeom>
          <a:solidFill>
            <a:srgbClr val="FFFFFF"/>
          </a:solidFill>
          <a:ln w="12700">
            <a:solidFill>
              <a:srgbClr val="E5E7EB"/>
            </a:solidFill>
            <a:prstDash val="solid"/>
          </a:ln>
        </p:spPr>
      </p:sp>
      <p:sp>
        <p:nvSpPr>
          <p:cNvPr id="61" name="Shape 59"/>
          <p:cNvSpPr/>
          <p:nvPr/>
        </p:nvSpPr>
        <p:spPr>
          <a:xfrm>
            <a:off x="9134856" y="4023360"/>
            <a:ext cx="2697480" cy="566928"/>
          </a:xfrm>
          <a:prstGeom prst="rect">
            <a:avLst/>
          </a:prstGeom>
          <a:solidFill>
            <a:srgbClr val="14B8A6"/>
          </a:solidFill>
          <a:ln/>
        </p:spPr>
      </p:sp>
      <p:sp>
        <p:nvSpPr>
          <p:cNvPr id="62" name="Text 60"/>
          <p:cNvSpPr/>
          <p:nvPr/>
        </p:nvSpPr>
        <p:spPr>
          <a:xfrm>
            <a:off x="9244584" y="4078224"/>
            <a:ext cx="109728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L8</a:t>
            </a:r>
            <a:endParaRPr lang="en-US" sz="2200" dirty="0"/>
          </a:p>
        </p:txBody>
      </p:sp>
      <p:sp>
        <p:nvSpPr>
          <p:cNvPr id="63" name="Text 61"/>
          <p:cNvSpPr/>
          <p:nvPr/>
        </p:nvSpPr>
        <p:spPr>
          <a:xfrm>
            <a:off x="10049256" y="4078224"/>
            <a:ext cx="169164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Trebuchet MS" pitchFamily="34" charset="0"/>
                <a:ea typeface="Trebuchet MS" pitchFamily="34" charset="-122"/>
                <a:cs typeface="Trebuchet MS" pitchFamily="34" charset="-120"/>
              </a:rPr>
              <a:t>Reading Champion</a:t>
            </a:r>
            <a:endParaRPr lang="en-US" sz="1400" dirty="0"/>
          </a:p>
        </p:txBody>
      </p:sp>
      <p:sp>
        <p:nvSpPr>
          <p:cNvPr id="64" name="Text 62"/>
          <p:cNvSpPr/>
          <p:nvPr/>
        </p:nvSpPr>
        <p:spPr>
          <a:xfrm>
            <a:off x="9262872" y="4681728"/>
            <a:ext cx="2441448" cy="274320"/>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Phase 6 morphology</a:t>
            </a:r>
            <a:endParaRPr lang="en-US" sz="1150" dirty="0"/>
          </a:p>
        </p:txBody>
      </p:sp>
      <p:sp>
        <p:nvSpPr>
          <p:cNvPr id="65" name="Text 63"/>
          <p:cNvSpPr/>
          <p:nvPr/>
        </p:nvSpPr>
        <p:spPr>
          <a:xfrm>
            <a:off x="9262872" y="4937760"/>
            <a:ext cx="2441448"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Y2-Y3 6-8</a:t>
            </a:r>
            <a:endParaRPr lang="en-US" sz="1050" dirty="0"/>
          </a:p>
        </p:txBody>
      </p:sp>
      <p:sp>
        <p:nvSpPr>
          <p:cNvPr id="66" name="Text 64"/>
          <p:cNvSpPr/>
          <p:nvPr/>
        </p:nvSpPr>
        <p:spPr>
          <a:xfrm>
            <a:off x="9262872" y="5248656"/>
            <a:ext cx="2441448" cy="274320"/>
          </a:xfrm>
          <a:prstGeom prst="rect">
            <a:avLst/>
          </a:prstGeom>
          <a:noFill/>
          <a:ln/>
        </p:spPr>
        <p:txBody>
          <a:bodyPr wrap="square" lIns="0" tIns="0" rIns="0" bIns="0" rtlCol="0" anchor="ctr"/>
          <a:lstStyle/>
          <a:p>
            <a:pPr indent="0" marL="0">
              <a:buNone/>
            </a:pPr>
            <a:r>
              <a:rPr lang="en-US" sz="1150" b="1" dirty="0">
                <a:solidFill>
                  <a:srgbClr val="1E1B4B"/>
                </a:solidFill>
                <a:latin typeface="Calibri" pitchFamily="34" charset="0"/>
                <a:ea typeface="Calibri" pitchFamily="34" charset="-122"/>
                <a:cs typeface="Calibri" pitchFamily="34" charset="-120"/>
              </a:rPr>
              <a:t>5 suffix</a:t>
            </a:r>
            <a:pPr indent="0" marL="0">
              <a:buNone/>
            </a:pPr>
            <a:r>
              <a:rPr lang="en-US" sz="1150" dirty="0">
                <a:solidFill>
                  <a:srgbClr val="374151"/>
                </a:solidFill>
                <a:latin typeface="Calibri" pitchFamily="34" charset="0"/>
                <a:ea typeface="Calibri" pitchFamily="34" charset="-122"/>
                <a:cs typeface="Calibri" pitchFamily="34" charset="-120"/>
              </a:rPr>
              <a:t>   ·   19 pages</a:t>
            </a:r>
            <a:endParaRPr lang="en-US" sz="1150" dirty="0"/>
          </a:p>
        </p:txBody>
      </p:sp>
      <p:sp>
        <p:nvSpPr>
          <p:cNvPr id="67" name="Text 65"/>
          <p:cNvSpPr/>
          <p:nvPr/>
        </p:nvSpPr>
        <p:spPr>
          <a:xfrm>
            <a:off x="9262872" y="5541264"/>
            <a:ext cx="2441448" cy="566928"/>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-ous -cious -tious -able -ible</a:t>
            </a:r>
            <a:endParaRPr lang="en-US" sz="950" dirty="0"/>
          </a:p>
        </p:txBody>
      </p:sp>
      <p:sp>
        <p:nvSpPr>
          <p:cNvPr id="68" name="Text 66"/>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69" name="Text 67"/>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Level system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B4B"/>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What one level pack contains</a:t>
            </a:r>
            <a:endParaRPr lang="en-US" sz="3000" dirty="0"/>
          </a:p>
        </p:txBody>
      </p:sp>
      <p:sp>
        <p:nvSpPr>
          <p:cNvPr id="3" name="Text 1"/>
          <p:cNvSpPr/>
          <p:nvPr/>
        </p:nvSpPr>
        <p:spPr>
          <a:xfrm>
            <a:off x="566928" y="1097280"/>
            <a:ext cx="10972800" cy="365760"/>
          </a:xfrm>
          <a:prstGeom prst="rect">
            <a:avLst/>
          </a:prstGeom>
          <a:noFill/>
          <a:ln/>
        </p:spPr>
        <p:txBody>
          <a:bodyPr wrap="square" lIns="0" tIns="0" rIns="0" bIns="0" rtlCol="0" anchor="ctr"/>
          <a:lstStyle/>
          <a:p>
            <a:pPr indent="0" marL="0">
              <a:buNone/>
            </a:pPr>
            <a:r>
              <a:rPr lang="en-US" sz="1400" dirty="0">
                <a:solidFill>
                  <a:srgbClr val="C9B6FB"/>
                </a:solidFill>
                <a:latin typeface="Calibri" pitchFamily="34" charset="0"/>
                <a:ea typeface="Calibri" pitchFamily="34" charset="-122"/>
                <a:cs typeface="Calibri" pitchFamily="34" charset="-120"/>
              </a:rPr>
              <a:t>The same spine every level, so children, parents and teachers know what to expect. The content scales with the phonics level.</a:t>
            </a:r>
            <a:endParaRPr lang="en-US" sz="1400" dirty="0"/>
          </a:p>
        </p:txBody>
      </p:sp>
      <p:sp>
        <p:nvSpPr>
          <p:cNvPr id="4" name="Shape 2"/>
          <p:cNvSpPr/>
          <p:nvPr/>
        </p:nvSpPr>
        <p:spPr>
          <a:xfrm>
            <a:off x="548640" y="1737360"/>
            <a:ext cx="11064240" cy="768096"/>
          </a:xfrm>
          <a:prstGeom prst="rect">
            <a:avLst/>
          </a:prstGeom>
          <a:solidFill>
            <a:srgbClr val="2E2A66"/>
          </a:solidFill>
          <a:ln/>
        </p:spPr>
      </p:sp>
      <p:sp>
        <p:nvSpPr>
          <p:cNvPr id="5" name="Shape 3"/>
          <p:cNvSpPr/>
          <p:nvPr/>
        </p:nvSpPr>
        <p:spPr>
          <a:xfrm>
            <a:off x="548640" y="1737360"/>
            <a:ext cx="2468880" cy="768096"/>
          </a:xfrm>
          <a:prstGeom prst="rect">
            <a:avLst/>
          </a:prstGeom>
          <a:solidFill>
            <a:srgbClr val="9D99C9"/>
          </a:solidFill>
          <a:ln/>
        </p:spPr>
      </p:sp>
      <p:sp>
        <p:nvSpPr>
          <p:cNvPr id="6" name="Text 4"/>
          <p:cNvSpPr/>
          <p:nvPr/>
        </p:nvSpPr>
        <p:spPr>
          <a:xfrm>
            <a:off x="640080" y="1737360"/>
            <a:ext cx="2286000" cy="768096"/>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Front matter</a:t>
            </a:r>
            <a:endParaRPr lang="en-US" sz="1600" dirty="0"/>
          </a:p>
        </p:txBody>
      </p:sp>
      <p:sp>
        <p:nvSpPr>
          <p:cNvPr id="7" name="Text 5"/>
          <p:cNvSpPr/>
          <p:nvPr/>
        </p:nvSpPr>
        <p:spPr>
          <a:xfrm>
            <a:off x="3246120" y="1737360"/>
            <a:ext cx="8183880" cy="768096"/>
          </a:xfrm>
          <a:prstGeom prst="rect">
            <a:avLst/>
          </a:prstGeom>
          <a:noFill/>
          <a:ln/>
        </p:spPr>
        <p:txBody>
          <a:bodyPr wrap="square" lIns="0" tIns="0" rIns="0" bIns="0" rtlCol="0" anchor="ctr"/>
          <a:lstStyle/>
          <a:p>
            <a:pPr indent="0" marL="0">
              <a:buNone/>
            </a:pPr>
            <a:r>
              <a:rPr lang="en-US" sz="1300" dirty="0">
                <a:solidFill>
                  <a:srgbClr val="E5E2F5"/>
                </a:solidFill>
                <a:latin typeface="Calibri" pitchFamily="34" charset="0"/>
                <a:ea typeface="Calibri" pitchFamily="34" charset="-122"/>
                <a:cs typeface="Calibri" pitchFamily="34" charset="-120"/>
              </a:rPr>
              <a:t>Cover in the level colour with the book mascot, contents index, parent how-to</a:t>
            </a:r>
            <a:endParaRPr lang="en-US" sz="1300" dirty="0"/>
          </a:p>
        </p:txBody>
      </p:sp>
      <p:sp>
        <p:nvSpPr>
          <p:cNvPr id="8" name="Shape 6"/>
          <p:cNvSpPr/>
          <p:nvPr/>
        </p:nvSpPr>
        <p:spPr>
          <a:xfrm>
            <a:off x="548640" y="2615184"/>
            <a:ext cx="11064240" cy="768096"/>
          </a:xfrm>
          <a:prstGeom prst="rect">
            <a:avLst/>
          </a:prstGeom>
          <a:solidFill>
            <a:srgbClr val="2E2A66"/>
          </a:solidFill>
          <a:ln/>
        </p:spPr>
      </p:sp>
      <p:sp>
        <p:nvSpPr>
          <p:cNvPr id="9" name="Shape 7"/>
          <p:cNvSpPr/>
          <p:nvPr/>
        </p:nvSpPr>
        <p:spPr>
          <a:xfrm>
            <a:off x="548640" y="2615184"/>
            <a:ext cx="2468880" cy="768096"/>
          </a:xfrm>
          <a:prstGeom prst="rect">
            <a:avLst/>
          </a:prstGeom>
          <a:solidFill>
            <a:srgbClr val="E84B8A"/>
          </a:solidFill>
          <a:ln/>
        </p:spPr>
      </p:sp>
      <p:sp>
        <p:nvSpPr>
          <p:cNvPr id="10" name="Text 8"/>
          <p:cNvSpPr/>
          <p:nvPr/>
        </p:nvSpPr>
        <p:spPr>
          <a:xfrm>
            <a:off x="640080" y="2615184"/>
            <a:ext cx="2286000" cy="768096"/>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Phonics</a:t>
            </a:r>
            <a:endParaRPr lang="en-US" sz="1600" dirty="0"/>
          </a:p>
        </p:txBody>
      </p:sp>
      <p:sp>
        <p:nvSpPr>
          <p:cNvPr id="11" name="Text 9"/>
          <p:cNvSpPr/>
          <p:nvPr/>
        </p:nvSpPr>
        <p:spPr>
          <a:xfrm>
            <a:off x="3246120" y="2615184"/>
            <a:ext cx="8183880" cy="768096"/>
          </a:xfrm>
          <a:prstGeom prst="rect">
            <a:avLst/>
          </a:prstGeom>
          <a:noFill/>
          <a:ln/>
        </p:spPr>
        <p:txBody>
          <a:bodyPr wrap="square" lIns="0" tIns="0" rIns="0" bIns="0" rtlCol="0" anchor="ctr"/>
          <a:lstStyle/>
          <a:p>
            <a:pPr indent="0" marL="0">
              <a:buNone/>
            </a:pPr>
            <a:r>
              <a:rPr lang="en-US" sz="1300" dirty="0">
                <a:solidFill>
                  <a:srgbClr val="E5E2F5"/>
                </a:solidFill>
                <a:latin typeface="Calibri" pitchFamily="34" charset="0"/>
                <a:ea typeface="Calibri" pitchFamily="34" charset="-122"/>
                <a:cs typeface="Calibri" pitchFamily="34" charset="-120"/>
              </a:rPr>
              <a:t>One Single-Sound sheet per new grapheme, plus a sound mat, spelling sort and tricky words</a:t>
            </a:r>
            <a:endParaRPr lang="en-US" sz="1300" dirty="0"/>
          </a:p>
        </p:txBody>
      </p:sp>
      <p:sp>
        <p:nvSpPr>
          <p:cNvPr id="12" name="Shape 10"/>
          <p:cNvSpPr/>
          <p:nvPr/>
        </p:nvSpPr>
        <p:spPr>
          <a:xfrm>
            <a:off x="548640" y="3493008"/>
            <a:ext cx="11064240" cy="768096"/>
          </a:xfrm>
          <a:prstGeom prst="rect">
            <a:avLst/>
          </a:prstGeom>
          <a:solidFill>
            <a:srgbClr val="2E2A66"/>
          </a:solidFill>
          <a:ln/>
        </p:spPr>
      </p:sp>
      <p:sp>
        <p:nvSpPr>
          <p:cNvPr id="13" name="Shape 11"/>
          <p:cNvSpPr/>
          <p:nvPr/>
        </p:nvSpPr>
        <p:spPr>
          <a:xfrm>
            <a:off x="548640" y="3493008"/>
            <a:ext cx="2468880" cy="768096"/>
          </a:xfrm>
          <a:prstGeom prst="rect">
            <a:avLst/>
          </a:prstGeom>
          <a:solidFill>
            <a:srgbClr val="22C55E"/>
          </a:solidFill>
          <a:ln/>
        </p:spPr>
      </p:sp>
      <p:sp>
        <p:nvSpPr>
          <p:cNvPr id="14" name="Text 12"/>
          <p:cNvSpPr/>
          <p:nvPr/>
        </p:nvSpPr>
        <p:spPr>
          <a:xfrm>
            <a:off x="640080" y="3493008"/>
            <a:ext cx="2286000" cy="768096"/>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Handwriting</a:t>
            </a:r>
            <a:endParaRPr lang="en-US" sz="1600" dirty="0"/>
          </a:p>
        </p:txBody>
      </p:sp>
      <p:sp>
        <p:nvSpPr>
          <p:cNvPr id="15" name="Text 13"/>
          <p:cNvSpPr/>
          <p:nvPr/>
        </p:nvSpPr>
        <p:spPr>
          <a:xfrm>
            <a:off x="3246120" y="3493008"/>
            <a:ext cx="8183880" cy="768096"/>
          </a:xfrm>
          <a:prstGeom prst="rect">
            <a:avLst/>
          </a:prstGeom>
          <a:noFill/>
          <a:ln/>
        </p:spPr>
        <p:txBody>
          <a:bodyPr wrap="square" lIns="0" tIns="0" rIns="0" bIns="0" rtlCol="0" anchor="ctr"/>
          <a:lstStyle/>
          <a:p>
            <a:pPr indent="0" marL="0">
              <a:buNone/>
            </a:pPr>
            <a:r>
              <a:rPr lang="en-US" sz="1300" dirty="0">
                <a:solidFill>
                  <a:srgbClr val="E5E2F5"/>
                </a:solidFill>
                <a:latin typeface="Calibri" pitchFamily="34" charset="0"/>
                <a:ea typeface="Calibri" pitchFamily="34" charset="-122"/>
                <a:cs typeface="Calibri" pitchFamily="34" charset="-120"/>
              </a:rPr>
              <a:t>Formation to joining to fluency. Every guideline drawn by TraceLine, never by hand</a:t>
            </a:r>
            <a:endParaRPr lang="en-US" sz="1300" dirty="0"/>
          </a:p>
        </p:txBody>
      </p:sp>
      <p:sp>
        <p:nvSpPr>
          <p:cNvPr id="16" name="Shape 14"/>
          <p:cNvSpPr/>
          <p:nvPr/>
        </p:nvSpPr>
        <p:spPr>
          <a:xfrm>
            <a:off x="548640" y="4370832"/>
            <a:ext cx="11064240" cy="768096"/>
          </a:xfrm>
          <a:prstGeom prst="rect">
            <a:avLst/>
          </a:prstGeom>
          <a:solidFill>
            <a:srgbClr val="2E2A66"/>
          </a:solidFill>
          <a:ln/>
        </p:spPr>
      </p:sp>
      <p:sp>
        <p:nvSpPr>
          <p:cNvPr id="17" name="Shape 15"/>
          <p:cNvSpPr/>
          <p:nvPr/>
        </p:nvSpPr>
        <p:spPr>
          <a:xfrm>
            <a:off x="548640" y="4370832"/>
            <a:ext cx="2468880" cy="768096"/>
          </a:xfrm>
          <a:prstGeom prst="rect">
            <a:avLst/>
          </a:prstGeom>
          <a:solidFill>
            <a:srgbClr val="3B82F6"/>
          </a:solidFill>
          <a:ln/>
        </p:spPr>
      </p:sp>
      <p:sp>
        <p:nvSpPr>
          <p:cNvPr id="18" name="Text 16"/>
          <p:cNvSpPr/>
          <p:nvPr/>
        </p:nvSpPr>
        <p:spPr>
          <a:xfrm>
            <a:off x="640080" y="4370832"/>
            <a:ext cx="2286000" cy="768096"/>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Grammar</a:t>
            </a:r>
            <a:endParaRPr lang="en-US" sz="1600" dirty="0"/>
          </a:p>
        </p:txBody>
      </p:sp>
      <p:sp>
        <p:nvSpPr>
          <p:cNvPr id="19" name="Text 17"/>
          <p:cNvSpPr/>
          <p:nvPr/>
        </p:nvSpPr>
        <p:spPr>
          <a:xfrm>
            <a:off x="3246120" y="4370832"/>
            <a:ext cx="8183880" cy="768096"/>
          </a:xfrm>
          <a:prstGeom prst="rect">
            <a:avLst/>
          </a:prstGeom>
          <a:noFill/>
          <a:ln/>
        </p:spPr>
        <p:txBody>
          <a:bodyPr wrap="square" lIns="0" tIns="0" rIns="0" bIns="0" rtlCol="0" anchor="ctr"/>
          <a:lstStyle/>
          <a:p>
            <a:pPr indent="0" marL="0">
              <a:buNone/>
            </a:pPr>
            <a:r>
              <a:rPr lang="en-US" sz="1300" dirty="0">
                <a:solidFill>
                  <a:srgbClr val="E5E2F5"/>
                </a:solidFill>
                <a:latin typeface="Calibri" pitchFamily="34" charset="0"/>
                <a:ea typeface="Calibri" pitchFamily="34" charset="-122"/>
                <a:cs typeface="Calibri" pitchFamily="34" charset="-120"/>
              </a:rPr>
              <a:t>One mini-skill per book focus, plus the 'Say it, write it, check it' sentence page</a:t>
            </a:r>
            <a:endParaRPr lang="en-US" sz="1300" dirty="0"/>
          </a:p>
        </p:txBody>
      </p:sp>
      <p:sp>
        <p:nvSpPr>
          <p:cNvPr id="20" name="Shape 18"/>
          <p:cNvSpPr/>
          <p:nvPr/>
        </p:nvSpPr>
        <p:spPr>
          <a:xfrm>
            <a:off x="548640" y="5248656"/>
            <a:ext cx="11064240" cy="768096"/>
          </a:xfrm>
          <a:prstGeom prst="rect">
            <a:avLst/>
          </a:prstGeom>
          <a:solidFill>
            <a:srgbClr val="2E2A66"/>
          </a:solidFill>
          <a:ln/>
        </p:spPr>
      </p:sp>
      <p:sp>
        <p:nvSpPr>
          <p:cNvPr id="21" name="Shape 19"/>
          <p:cNvSpPr/>
          <p:nvPr/>
        </p:nvSpPr>
        <p:spPr>
          <a:xfrm>
            <a:off x="548640" y="5248656"/>
            <a:ext cx="2468880" cy="768096"/>
          </a:xfrm>
          <a:prstGeom prst="rect">
            <a:avLst/>
          </a:prstGeom>
          <a:solidFill>
            <a:srgbClr val="14B8A6"/>
          </a:solidFill>
          <a:ln/>
        </p:spPr>
      </p:sp>
      <p:sp>
        <p:nvSpPr>
          <p:cNvPr id="22" name="Text 20"/>
          <p:cNvSpPr/>
          <p:nvPr/>
        </p:nvSpPr>
        <p:spPr>
          <a:xfrm>
            <a:off x="640080" y="5248656"/>
            <a:ext cx="2286000" cy="768096"/>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Back matter</a:t>
            </a:r>
            <a:endParaRPr lang="en-US" sz="1600" dirty="0"/>
          </a:p>
        </p:txBody>
      </p:sp>
      <p:sp>
        <p:nvSpPr>
          <p:cNvPr id="23" name="Text 21"/>
          <p:cNvSpPr/>
          <p:nvPr/>
        </p:nvSpPr>
        <p:spPr>
          <a:xfrm>
            <a:off x="3246120" y="5248656"/>
            <a:ext cx="8183880" cy="768096"/>
          </a:xfrm>
          <a:prstGeom prst="rect">
            <a:avLst/>
          </a:prstGeom>
          <a:noFill/>
          <a:ln/>
        </p:spPr>
        <p:txBody>
          <a:bodyPr wrap="square" lIns="0" tIns="0" rIns="0" bIns="0" rtlCol="0" anchor="ctr"/>
          <a:lstStyle/>
          <a:p>
            <a:pPr indent="0" marL="0">
              <a:buNone/>
            </a:pPr>
            <a:r>
              <a:rPr lang="en-US" sz="1300" dirty="0">
                <a:solidFill>
                  <a:srgbClr val="E5E2F5"/>
                </a:solidFill>
                <a:latin typeface="Calibri" pitchFamily="34" charset="0"/>
                <a:ea typeface="Calibri" pitchFamily="34" charset="-122"/>
                <a:cs typeface="Calibri" pitchFamily="34" charset="-120"/>
              </a:rPr>
              <a:t>A mixed review or challenge page, then a level certificate</a:t>
            </a:r>
            <a:endParaRPr lang="en-US" sz="1300" dirty="0"/>
          </a:p>
        </p:txBody>
      </p:sp>
      <p:sp>
        <p:nvSpPr>
          <p:cNvPr id="24" name="Text 22"/>
          <p:cNvSpPr/>
          <p:nvPr/>
        </p:nvSpPr>
        <p:spPr>
          <a:xfrm>
            <a:off x="566928" y="6263640"/>
            <a:ext cx="10972800" cy="274320"/>
          </a:xfrm>
          <a:prstGeom prst="rect">
            <a:avLst/>
          </a:prstGeom>
          <a:noFill/>
          <a:ln/>
        </p:spPr>
        <p:txBody>
          <a:bodyPr wrap="square" lIns="0" tIns="0" rIns="0" bIns="0" rtlCol="0" anchor="ctr"/>
          <a:lstStyle/>
          <a:p>
            <a:pPr indent="0" marL="0">
              <a:buNone/>
            </a:pPr>
            <a:r>
              <a:rPr lang="en-US" sz="1100" i="1" dirty="0">
                <a:solidFill>
                  <a:srgbClr val="9D99C9"/>
                </a:solidFill>
                <a:latin typeface="Calibri" pitchFamily="34" charset="0"/>
                <a:ea typeface="Calibri" pitchFamily="34" charset="-122"/>
                <a:cs typeface="Calibri" pitchFamily="34" charset="-120"/>
              </a:rPr>
              <a:t>Science sits outside this spine for v1, pending a scope decision.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lIns="0" tIns="0" rIns="0" bIns="0" rtlCol="0" anchor="ctr"/>
          <a:lstStyle/>
          <a:p>
            <a:pPr indent="0" marL="0">
              <a:buNone/>
            </a:pPr>
            <a:r>
              <a:rPr lang="en-US" sz="2600" b="1" dirty="0">
                <a:solidFill>
                  <a:srgbClr val="1E1B4B"/>
                </a:solidFill>
                <a:latin typeface="Trebuchet MS" pitchFamily="34" charset="0"/>
                <a:ea typeface="Trebuchet MS" pitchFamily="34" charset="-122"/>
                <a:cs typeface="Trebuchet MS" pitchFamily="34" charset="-120"/>
              </a:rPr>
              <a:t>Levels at a glance: L1 to L4</a:t>
            </a:r>
            <a:endParaRPr lang="en-US" sz="2600" dirty="0"/>
          </a:p>
        </p:txBody>
      </p:sp>
      <p:sp>
        <p:nvSpPr>
          <p:cNvPr id="3" name="Shape 1"/>
          <p:cNvSpPr/>
          <p:nvPr/>
        </p:nvSpPr>
        <p:spPr>
          <a:xfrm>
            <a:off x="548640" y="1097280"/>
            <a:ext cx="5532120" cy="2331720"/>
          </a:xfrm>
          <a:prstGeom prst="rect">
            <a:avLst/>
          </a:prstGeom>
          <a:solidFill>
            <a:srgbClr val="FFFFFF"/>
          </a:solidFill>
          <a:ln w="12700">
            <a:solidFill>
              <a:srgbClr val="E5E7EB"/>
            </a:solidFill>
            <a:prstDash val="solid"/>
          </a:ln>
        </p:spPr>
      </p:sp>
      <p:sp>
        <p:nvSpPr>
          <p:cNvPr id="4" name="Shape 2"/>
          <p:cNvSpPr/>
          <p:nvPr/>
        </p:nvSpPr>
        <p:spPr>
          <a:xfrm>
            <a:off x="548640" y="1097280"/>
            <a:ext cx="5532120" cy="640080"/>
          </a:xfrm>
          <a:prstGeom prst="rect">
            <a:avLst/>
          </a:prstGeom>
          <a:solidFill>
            <a:srgbClr val="E84B8A"/>
          </a:solidFill>
          <a:ln/>
        </p:spPr>
      </p:sp>
      <p:sp>
        <p:nvSpPr>
          <p:cNvPr id="5" name="Text 3"/>
          <p:cNvSpPr/>
          <p:nvPr/>
        </p:nvSpPr>
        <p:spPr>
          <a:xfrm>
            <a:off x="713232" y="1143000"/>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L1  Ditties</a:t>
            </a:r>
            <a:endParaRPr lang="en-US" sz="1900" dirty="0"/>
          </a:p>
        </p:txBody>
      </p:sp>
      <p:sp>
        <p:nvSpPr>
          <p:cNvPr id="6" name="Text 4"/>
          <p:cNvSpPr/>
          <p:nvPr/>
        </p:nvSpPr>
        <p:spPr>
          <a:xfrm>
            <a:off x="4617720" y="1143000"/>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21 pp</a:t>
            </a:r>
            <a:endParaRPr lang="en-US" sz="1800" dirty="0"/>
          </a:p>
        </p:txBody>
      </p:sp>
      <p:sp>
        <p:nvSpPr>
          <p:cNvPr id="7" name="Text 5"/>
          <p:cNvSpPr/>
          <p:nvPr/>
        </p:nvSpPr>
        <p:spPr>
          <a:xfrm>
            <a:off x="713232" y="1847088"/>
            <a:ext cx="5202936" cy="292608"/>
          </a:xfrm>
          <a:prstGeom prst="rect">
            <a:avLst/>
          </a:prstGeom>
          <a:noFill/>
          <a:ln/>
        </p:spPr>
        <p:txBody>
          <a:bodyPr wrap="square" lIns="0" tIns="0" rIns="0" bIns="0" rtlCol="0" anchor="ctr"/>
          <a:lstStyle/>
          <a:p>
            <a:pPr indent="0" marL="0">
              <a:buNone/>
            </a:pPr>
            <a:r>
              <a:rPr lang="en-US" sz="1150" b="1" dirty="0">
                <a:solidFill>
                  <a:srgbClr val="E84B8A"/>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10 sounds   </a:t>
            </a:r>
            <a:pPr indent="0" marL="0">
              <a:buNone/>
            </a:pPr>
            <a:r>
              <a:rPr lang="en-US" sz="1150" dirty="0">
                <a:solidFill>
                  <a:srgbClr val="6B7280"/>
                </a:solidFill>
                <a:latin typeface="Calibri" pitchFamily="34" charset="0"/>
                <a:ea typeface="Calibri" pitchFamily="34" charset="-122"/>
                <a:cs typeface="Calibri" pitchFamily="34" charset="-120"/>
              </a:rPr>
              <a:t>·  Phase 2 (sets 1-2)</a:t>
            </a:r>
            <a:endParaRPr lang="en-US" sz="1150" dirty="0"/>
          </a:p>
        </p:txBody>
      </p:sp>
      <p:sp>
        <p:nvSpPr>
          <p:cNvPr id="8" name="Text 6"/>
          <p:cNvSpPr/>
          <p:nvPr/>
        </p:nvSpPr>
        <p:spPr>
          <a:xfrm>
            <a:off x="713232" y="2194560"/>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s a t p i n m d g o</a:t>
            </a:r>
            <a:endParaRPr lang="en-US" sz="1050" dirty="0"/>
          </a:p>
        </p:txBody>
      </p:sp>
      <p:sp>
        <p:nvSpPr>
          <p:cNvPr id="9" name="Text 7"/>
          <p:cNvSpPr/>
          <p:nvPr/>
        </p:nvSpPr>
        <p:spPr>
          <a:xfrm>
            <a:off x="713232" y="2880360"/>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Oral sentence, finger spaces</a:t>
            </a:r>
            <a:endParaRPr lang="en-US" sz="1050" dirty="0"/>
          </a:p>
        </p:txBody>
      </p:sp>
      <p:sp>
        <p:nvSpPr>
          <p:cNvPr id="10" name="Shape 8"/>
          <p:cNvSpPr/>
          <p:nvPr/>
        </p:nvSpPr>
        <p:spPr>
          <a:xfrm>
            <a:off x="6263640" y="1097280"/>
            <a:ext cx="5532120" cy="2331720"/>
          </a:xfrm>
          <a:prstGeom prst="rect">
            <a:avLst/>
          </a:prstGeom>
          <a:solidFill>
            <a:srgbClr val="FFFFFF"/>
          </a:solidFill>
          <a:ln w="12700">
            <a:solidFill>
              <a:srgbClr val="E5E7EB"/>
            </a:solidFill>
            <a:prstDash val="solid"/>
          </a:ln>
        </p:spPr>
      </p:sp>
      <p:sp>
        <p:nvSpPr>
          <p:cNvPr id="11" name="Shape 9"/>
          <p:cNvSpPr/>
          <p:nvPr/>
        </p:nvSpPr>
        <p:spPr>
          <a:xfrm>
            <a:off x="6263640" y="1097280"/>
            <a:ext cx="5532120" cy="640080"/>
          </a:xfrm>
          <a:prstGeom prst="rect">
            <a:avLst/>
          </a:prstGeom>
          <a:solidFill>
            <a:srgbClr val="F97066"/>
          </a:solidFill>
          <a:ln/>
        </p:spPr>
      </p:sp>
      <p:sp>
        <p:nvSpPr>
          <p:cNvPr id="12" name="Text 10"/>
          <p:cNvSpPr/>
          <p:nvPr/>
        </p:nvSpPr>
        <p:spPr>
          <a:xfrm>
            <a:off x="6428232" y="1143000"/>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L2  First Sounds</a:t>
            </a:r>
            <a:endParaRPr lang="en-US" sz="1900" dirty="0"/>
          </a:p>
        </p:txBody>
      </p:sp>
      <p:sp>
        <p:nvSpPr>
          <p:cNvPr id="13" name="Text 11"/>
          <p:cNvSpPr/>
          <p:nvPr/>
        </p:nvSpPr>
        <p:spPr>
          <a:xfrm>
            <a:off x="10332720" y="1143000"/>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31 pp</a:t>
            </a:r>
            <a:endParaRPr lang="en-US" sz="1800" dirty="0"/>
          </a:p>
        </p:txBody>
      </p:sp>
      <p:sp>
        <p:nvSpPr>
          <p:cNvPr id="14" name="Text 12"/>
          <p:cNvSpPr/>
          <p:nvPr/>
        </p:nvSpPr>
        <p:spPr>
          <a:xfrm>
            <a:off x="6428232" y="1847088"/>
            <a:ext cx="5202936" cy="292608"/>
          </a:xfrm>
          <a:prstGeom prst="rect">
            <a:avLst/>
          </a:prstGeom>
          <a:noFill/>
          <a:ln/>
        </p:spPr>
        <p:txBody>
          <a:bodyPr wrap="square" lIns="0" tIns="0" rIns="0" bIns="0" rtlCol="0" anchor="ctr"/>
          <a:lstStyle/>
          <a:p>
            <a:pPr indent="0" marL="0">
              <a:buNone/>
            </a:pPr>
            <a:r>
              <a:rPr lang="en-US" sz="1150" b="1" dirty="0">
                <a:solidFill>
                  <a:srgbClr val="F97066"/>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19 sounds   </a:t>
            </a:r>
            <a:pPr indent="0" marL="0">
              <a:buNone/>
            </a:pPr>
            <a:r>
              <a:rPr lang="en-US" sz="1150" dirty="0">
                <a:solidFill>
                  <a:srgbClr val="6B7280"/>
                </a:solidFill>
                <a:latin typeface="Calibri" pitchFamily="34" charset="0"/>
                <a:ea typeface="Calibri" pitchFamily="34" charset="-122"/>
                <a:cs typeface="Calibri" pitchFamily="34" charset="-120"/>
              </a:rPr>
              <a:t>·  Phase 2 (sets 3-5)</a:t>
            </a:r>
            <a:endParaRPr lang="en-US" sz="1150" dirty="0"/>
          </a:p>
        </p:txBody>
      </p:sp>
      <p:sp>
        <p:nvSpPr>
          <p:cNvPr id="15" name="Text 13"/>
          <p:cNvSpPr/>
          <p:nvPr/>
        </p:nvSpPr>
        <p:spPr>
          <a:xfrm>
            <a:off x="6428232" y="2194560"/>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c k ck e u r h b f ff l ll ss j v w x y z</a:t>
            </a:r>
            <a:endParaRPr lang="en-US" sz="1050" dirty="0"/>
          </a:p>
        </p:txBody>
      </p:sp>
      <p:sp>
        <p:nvSpPr>
          <p:cNvPr id="16" name="Text 14"/>
          <p:cNvSpPr/>
          <p:nvPr/>
        </p:nvSpPr>
        <p:spPr>
          <a:xfrm>
            <a:off x="6428232" y="2880360"/>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Capitals, full stops, capital I</a:t>
            </a:r>
            <a:endParaRPr lang="en-US" sz="1050" dirty="0"/>
          </a:p>
        </p:txBody>
      </p:sp>
      <p:sp>
        <p:nvSpPr>
          <p:cNvPr id="17" name="Shape 15"/>
          <p:cNvSpPr/>
          <p:nvPr/>
        </p:nvSpPr>
        <p:spPr>
          <a:xfrm>
            <a:off x="548640" y="3630168"/>
            <a:ext cx="5532120" cy="2331720"/>
          </a:xfrm>
          <a:prstGeom prst="rect">
            <a:avLst/>
          </a:prstGeom>
          <a:solidFill>
            <a:srgbClr val="FFFFFF"/>
          </a:solidFill>
          <a:ln w="12700">
            <a:solidFill>
              <a:srgbClr val="E5E7EB"/>
            </a:solidFill>
            <a:prstDash val="solid"/>
          </a:ln>
        </p:spPr>
      </p:sp>
      <p:sp>
        <p:nvSpPr>
          <p:cNvPr id="18" name="Shape 16"/>
          <p:cNvSpPr/>
          <p:nvPr/>
        </p:nvSpPr>
        <p:spPr>
          <a:xfrm>
            <a:off x="548640" y="3630168"/>
            <a:ext cx="5532120" cy="640080"/>
          </a:xfrm>
          <a:prstGeom prst="rect">
            <a:avLst/>
          </a:prstGeom>
          <a:solidFill>
            <a:srgbClr val="F59E0B"/>
          </a:solidFill>
          <a:ln/>
        </p:spPr>
      </p:sp>
      <p:sp>
        <p:nvSpPr>
          <p:cNvPr id="19" name="Text 17"/>
          <p:cNvSpPr/>
          <p:nvPr/>
        </p:nvSpPr>
        <p:spPr>
          <a:xfrm>
            <a:off x="713232" y="3675888"/>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L3  Special Friends</a:t>
            </a:r>
            <a:endParaRPr lang="en-US" sz="1900" dirty="0"/>
          </a:p>
        </p:txBody>
      </p:sp>
      <p:sp>
        <p:nvSpPr>
          <p:cNvPr id="20" name="Text 18"/>
          <p:cNvSpPr/>
          <p:nvPr/>
        </p:nvSpPr>
        <p:spPr>
          <a:xfrm>
            <a:off x="4617720" y="3675888"/>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20 pp</a:t>
            </a:r>
            <a:endParaRPr lang="en-US" sz="1800" dirty="0"/>
          </a:p>
        </p:txBody>
      </p:sp>
      <p:sp>
        <p:nvSpPr>
          <p:cNvPr id="21" name="Text 19"/>
          <p:cNvSpPr/>
          <p:nvPr/>
        </p:nvSpPr>
        <p:spPr>
          <a:xfrm>
            <a:off x="713232" y="4379976"/>
            <a:ext cx="5202936" cy="292608"/>
          </a:xfrm>
          <a:prstGeom prst="rect">
            <a:avLst/>
          </a:prstGeom>
          <a:noFill/>
          <a:ln/>
        </p:spPr>
        <p:txBody>
          <a:bodyPr wrap="square" lIns="0" tIns="0" rIns="0" bIns="0" rtlCol="0" anchor="ctr"/>
          <a:lstStyle/>
          <a:p>
            <a:pPr indent="0" marL="0">
              <a:buNone/>
            </a:pPr>
            <a:r>
              <a:rPr lang="en-US" sz="1150" b="1" dirty="0">
                <a:solidFill>
                  <a:srgbClr val="F59E0B"/>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7 sounds   </a:t>
            </a:r>
            <a:pPr indent="0" marL="0">
              <a:buNone/>
            </a:pPr>
            <a:r>
              <a:rPr lang="en-US" sz="1150" dirty="0">
                <a:solidFill>
                  <a:srgbClr val="6B7280"/>
                </a:solidFill>
                <a:latin typeface="Calibri" pitchFamily="34" charset="0"/>
                <a:ea typeface="Calibri" pitchFamily="34" charset="-122"/>
                <a:cs typeface="Calibri" pitchFamily="34" charset="-120"/>
              </a:rPr>
              <a:t>·  Phase 3 digraphs</a:t>
            </a:r>
            <a:endParaRPr lang="en-US" sz="1150" dirty="0"/>
          </a:p>
        </p:txBody>
      </p:sp>
      <p:sp>
        <p:nvSpPr>
          <p:cNvPr id="22" name="Text 20"/>
          <p:cNvSpPr/>
          <p:nvPr/>
        </p:nvSpPr>
        <p:spPr>
          <a:xfrm>
            <a:off x="713232" y="4727448"/>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sh nk ch th ng qu zz</a:t>
            </a:r>
            <a:endParaRPr lang="en-US" sz="1050" dirty="0"/>
          </a:p>
        </p:txBody>
      </p:sp>
      <p:sp>
        <p:nvSpPr>
          <p:cNvPr id="23" name="Text 21"/>
          <p:cNvSpPr/>
          <p:nvPr/>
        </p:nvSpPr>
        <p:spPr>
          <a:xfrm>
            <a:off x="713232" y="5413248"/>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Question marks, proper nouns</a:t>
            </a:r>
            <a:endParaRPr lang="en-US" sz="1050" dirty="0"/>
          </a:p>
        </p:txBody>
      </p:sp>
      <p:sp>
        <p:nvSpPr>
          <p:cNvPr id="24" name="Shape 22"/>
          <p:cNvSpPr/>
          <p:nvPr/>
        </p:nvSpPr>
        <p:spPr>
          <a:xfrm>
            <a:off x="6263640" y="3630168"/>
            <a:ext cx="5532120" cy="2331720"/>
          </a:xfrm>
          <a:prstGeom prst="rect">
            <a:avLst/>
          </a:prstGeom>
          <a:solidFill>
            <a:srgbClr val="FFFFFF"/>
          </a:solidFill>
          <a:ln w="12700">
            <a:solidFill>
              <a:srgbClr val="E5E7EB"/>
            </a:solidFill>
            <a:prstDash val="solid"/>
          </a:ln>
        </p:spPr>
      </p:sp>
      <p:sp>
        <p:nvSpPr>
          <p:cNvPr id="25" name="Shape 23"/>
          <p:cNvSpPr/>
          <p:nvPr/>
        </p:nvSpPr>
        <p:spPr>
          <a:xfrm>
            <a:off x="6263640" y="3630168"/>
            <a:ext cx="5532120" cy="640080"/>
          </a:xfrm>
          <a:prstGeom prst="rect">
            <a:avLst/>
          </a:prstGeom>
          <a:solidFill>
            <a:srgbClr val="22C55E"/>
          </a:solidFill>
          <a:ln/>
        </p:spPr>
      </p:sp>
      <p:sp>
        <p:nvSpPr>
          <p:cNvPr id="26" name="Text 24"/>
          <p:cNvSpPr/>
          <p:nvPr/>
        </p:nvSpPr>
        <p:spPr>
          <a:xfrm>
            <a:off x="6428232" y="3675888"/>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L4  Longer Sounds</a:t>
            </a:r>
            <a:endParaRPr lang="en-US" sz="1900" dirty="0"/>
          </a:p>
        </p:txBody>
      </p:sp>
      <p:sp>
        <p:nvSpPr>
          <p:cNvPr id="27" name="Text 25"/>
          <p:cNvSpPr/>
          <p:nvPr/>
        </p:nvSpPr>
        <p:spPr>
          <a:xfrm>
            <a:off x="10332720" y="3675888"/>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24 pp</a:t>
            </a:r>
            <a:endParaRPr lang="en-US" sz="1800" dirty="0"/>
          </a:p>
        </p:txBody>
      </p:sp>
      <p:sp>
        <p:nvSpPr>
          <p:cNvPr id="28" name="Text 26"/>
          <p:cNvSpPr/>
          <p:nvPr/>
        </p:nvSpPr>
        <p:spPr>
          <a:xfrm>
            <a:off x="6428232" y="4379976"/>
            <a:ext cx="5202936" cy="29260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11 sounds   </a:t>
            </a:r>
            <a:pPr indent="0" marL="0">
              <a:buNone/>
            </a:pPr>
            <a:r>
              <a:rPr lang="en-US" sz="1150" dirty="0">
                <a:solidFill>
                  <a:srgbClr val="6B7280"/>
                </a:solidFill>
                <a:latin typeface="Calibri" pitchFamily="34" charset="0"/>
                <a:ea typeface="Calibri" pitchFamily="34" charset="-122"/>
                <a:cs typeface="Calibri" pitchFamily="34" charset="-120"/>
              </a:rPr>
              <a:t>·  RWI Set 2 vowels</a:t>
            </a:r>
            <a:endParaRPr lang="en-US" sz="1150" dirty="0"/>
          </a:p>
        </p:txBody>
      </p:sp>
      <p:sp>
        <p:nvSpPr>
          <p:cNvPr id="29" name="Text 27"/>
          <p:cNvSpPr/>
          <p:nvPr/>
        </p:nvSpPr>
        <p:spPr>
          <a:xfrm>
            <a:off x="6428232" y="4727448"/>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ay ee igh ow oo ar or air ir ou oy</a:t>
            </a:r>
            <a:endParaRPr lang="en-US" sz="1050" dirty="0"/>
          </a:p>
        </p:txBody>
      </p:sp>
      <p:sp>
        <p:nvSpPr>
          <p:cNvPr id="30" name="Text 28"/>
          <p:cNvSpPr/>
          <p:nvPr/>
        </p:nvSpPr>
        <p:spPr>
          <a:xfrm>
            <a:off x="6428232" y="5413248"/>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Join with 'and', end marks, plurals</a:t>
            </a:r>
            <a:endParaRPr lang="en-US" sz="1050" dirty="0"/>
          </a:p>
        </p:txBody>
      </p:sp>
      <p:sp>
        <p:nvSpPr>
          <p:cNvPr id="31" name="Text 29"/>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32" name="Text 30"/>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L1 to L4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lIns="0" tIns="0" rIns="0" bIns="0" rtlCol="0" anchor="ctr"/>
          <a:lstStyle/>
          <a:p>
            <a:pPr indent="0" marL="0">
              <a:buNone/>
            </a:pPr>
            <a:r>
              <a:rPr lang="en-US" sz="2600" b="1" dirty="0">
                <a:solidFill>
                  <a:srgbClr val="1E1B4B"/>
                </a:solidFill>
                <a:latin typeface="Trebuchet MS" pitchFamily="34" charset="0"/>
                <a:ea typeface="Trebuchet MS" pitchFamily="34" charset="-122"/>
                <a:cs typeface="Trebuchet MS" pitchFamily="34" charset="-120"/>
              </a:rPr>
              <a:t>Levels at a glance: L5 to L8</a:t>
            </a:r>
            <a:endParaRPr lang="en-US" sz="2600" dirty="0"/>
          </a:p>
        </p:txBody>
      </p:sp>
      <p:sp>
        <p:nvSpPr>
          <p:cNvPr id="3" name="Shape 1"/>
          <p:cNvSpPr/>
          <p:nvPr/>
        </p:nvSpPr>
        <p:spPr>
          <a:xfrm>
            <a:off x="548640" y="1097280"/>
            <a:ext cx="5532120" cy="2331720"/>
          </a:xfrm>
          <a:prstGeom prst="rect">
            <a:avLst/>
          </a:prstGeom>
          <a:solidFill>
            <a:srgbClr val="FFFFFF"/>
          </a:solidFill>
          <a:ln w="12700">
            <a:solidFill>
              <a:srgbClr val="E5E7EB"/>
            </a:solidFill>
            <a:prstDash val="solid"/>
          </a:ln>
        </p:spPr>
      </p:sp>
      <p:sp>
        <p:nvSpPr>
          <p:cNvPr id="4" name="Shape 2"/>
          <p:cNvSpPr/>
          <p:nvPr/>
        </p:nvSpPr>
        <p:spPr>
          <a:xfrm>
            <a:off x="548640" y="1097280"/>
            <a:ext cx="5532120" cy="640080"/>
          </a:xfrm>
          <a:prstGeom prst="rect">
            <a:avLst/>
          </a:prstGeom>
          <a:solidFill>
            <a:srgbClr val="3B82F6"/>
          </a:solidFill>
          <a:ln/>
        </p:spPr>
      </p:sp>
      <p:sp>
        <p:nvSpPr>
          <p:cNvPr id="5" name="Text 3"/>
          <p:cNvSpPr/>
          <p:nvPr/>
        </p:nvSpPr>
        <p:spPr>
          <a:xfrm>
            <a:off x="713232" y="1143000"/>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L5  New Spellings</a:t>
            </a:r>
            <a:endParaRPr lang="en-US" sz="1900" dirty="0"/>
          </a:p>
        </p:txBody>
      </p:sp>
      <p:sp>
        <p:nvSpPr>
          <p:cNvPr id="6" name="Text 4"/>
          <p:cNvSpPr/>
          <p:nvPr/>
        </p:nvSpPr>
        <p:spPr>
          <a:xfrm>
            <a:off x="4617720" y="1143000"/>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25 pp</a:t>
            </a:r>
            <a:endParaRPr lang="en-US" sz="1800" dirty="0"/>
          </a:p>
        </p:txBody>
      </p:sp>
      <p:sp>
        <p:nvSpPr>
          <p:cNvPr id="7" name="Text 5"/>
          <p:cNvSpPr/>
          <p:nvPr/>
        </p:nvSpPr>
        <p:spPr>
          <a:xfrm>
            <a:off x="713232" y="1847088"/>
            <a:ext cx="5202936" cy="292608"/>
          </a:xfrm>
          <a:prstGeom prst="rect">
            <a:avLst/>
          </a:prstGeom>
          <a:noFill/>
          <a:ln/>
        </p:spPr>
        <p:txBody>
          <a:bodyPr wrap="square" lIns="0" tIns="0" rIns="0" bIns="0" rtlCol="0" anchor="ctr"/>
          <a:lstStyle/>
          <a:p>
            <a:pPr indent="0" marL="0">
              <a:buNone/>
            </a:pPr>
            <a:r>
              <a:rPr lang="en-US" sz="1150" b="1" dirty="0">
                <a:solidFill>
                  <a:srgbClr val="3B82F6"/>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10 sounds   </a:t>
            </a:r>
            <a:pPr indent="0" marL="0">
              <a:buNone/>
            </a:pPr>
            <a:r>
              <a:rPr lang="en-US" sz="1150" dirty="0">
                <a:solidFill>
                  <a:srgbClr val="6B7280"/>
                </a:solidFill>
                <a:latin typeface="Calibri" pitchFamily="34" charset="0"/>
                <a:ea typeface="Calibri" pitchFamily="34" charset="-122"/>
                <a:cs typeface="Calibri" pitchFamily="34" charset="-120"/>
              </a:rPr>
              <a:t>·  Phase 5 split digraphs</a:t>
            </a:r>
            <a:endParaRPr lang="en-US" sz="1150" dirty="0"/>
          </a:p>
        </p:txBody>
      </p:sp>
      <p:sp>
        <p:nvSpPr>
          <p:cNvPr id="8" name="Text 6"/>
          <p:cNvSpPr/>
          <p:nvPr/>
        </p:nvSpPr>
        <p:spPr>
          <a:xfrm>
            <a:off x="713232" y="2194560"/>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a-e i-e o-e u-e ea ie oi aw ai oa</a:t>
            </a:r>
            <a:endParaRPr lang="en-US" sz="1050" dirty="0"/>
          </a:p>
        </p:txBody>
      </p:sp>
      <p:sp>
        <p:nvSpPr>
          <p:cNvPr id="9" name="Text 7"/>
          <p:cNvSpPr/>
          <p:nvPr/>
        </p:nvSpPr>
        <p:spPr>
          <a:xfrm>
            <a:off x="713232" y="2880360"/>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Suffixes, prefix un-, commas, sequencing</a:t>
            </a:r>
            <a:endParaRPr lang="en-US" sz="1050" dirty="0"/>
          </a:p>
        </p:txBody>
      </p:sp>
      <p:sp>
        <p:nvSpPr>
          <p:cNvPr id="10" name="Shape 8"/>
          <p:cNvSpPr/>
          <p:nvPr/>
        </p:nvSpPr>
        <p:spPr>
          <a:xfrm>
            <a:off x="6263640" y="1097280"/>
            <a:ext cx="5532120" cy="2331720"/>
          </a:xfrm>
          <a:prstGeom prst="rect">
            <a:avLst/>
          </a:prstGeom>
          <a:solidFill>
            <a:srgbClr val="FFFFFF"/>
          </a:solidFill>
          <a:ln w="12700">
            <a:solidFill>
              <a:srgbClr val="E5E7EB"/>
            </a:solidFill>
            <a:prstDash val="solid"/>
          </a:ln>
        </p:spPr>
      </p:sp>
      <p:sp>
        <p:nvSpPr>
          <p:cNvPr id="11" name="Shape 9"/>
          <p:cNvSpPr/>
          <p:nvPr/>
        </p:nvSpPr>
        <p:spPr>
          <a:xfrm>
            <a:off x="6263640" y="1097280"/>
            <a:ext cx="5532120" cy="640080"/>
          </a:xfrm>
          <a:prstGeom prst="rect">
            <a:avLst/>
          </a:prstGeom>
          <a:solidFill>
            <a:srgbClr val="6366F1"/>
          </a:solidFill>
          <a:ln/>
        </p:spPr>
      </p:sp>
      <p:sp>
        <p:nvSpPr>
          <p:cNvPr id="12" name="Text 10"/>
          <p:cNvSpPr/>
          <p:nvPr/>
        </p:nvSpPr>
        <p:spPr>
          <a:xfrm>
            <a:off x="6428232" y="1143000"/>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L6  Building Fluency</a:t>
            </a:r>
            <a:endParaRPr lang="en-US" sz="1900" dirty="0"/>
          </a:p>
        </p:txBody>
      </p:sp>
      <p:sp>
        <p:nvSpPr>
          <p:cNvPr id="13" name="Text 11"/>
          <p:cNvSpPr/>
          <p:nvPr/>
        </p:nvSpPr>
        <p:spPr>
          <a:xfrm>
            <a:off x="10332720" y="1143000"/>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29 pp</a:t>
            </a:r>
            <a:endParaRPr lang="en-US" sz="1800" dirty="0"/>
          </a:p>
        </p:txBody>
      </p:sp>
      <p:sp>
        <p:nvSpPr>
          <p:cNvPr id="14" name="Text 12"/>
          <p:cNvSpPr/>
          <p:nvPr/>
        </p:nvSpPr>
        <p:spPr>
          <a:xfrm>
            <a:off x="6428232" y="1847088"/>
            <a:ext cx="5202936" cy="292608"/>
          </a:xfrm>
          <a:prstGeom prst="rect">
            <a:avLst/>
          </a:prstGeom>
          <a:noFill/>
          <a:ln/>
        </p:spPr>
        <p:txBody>
          <a:bodyPr wrap="square" lIns="0" tIns="0" rIns="0" bIns="0" rtlCol="0" anchor="ctr"/>
          <a:lstStyle/>
          <a:p>
            <a:pPr indent="0" marL="0">
              <a:buNone/>
            </a:pPr>
            <a:r>
              <a:rPr lang="en-US" sz="1150" b="1" dirty="0">
                <a:solidFill>
                  <a:srgbClr val="6366F1"/>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14 sounds   </a:t>
            </a:r>
            <a:pPr indent="0" marL="0">
              <a:buNone/>
            </a:pPr>
            <a:r>
              <a:rPr lang="en-US" sz="1150" dirty="0">
                <a:solidFill>
                  <a:srgbClr val="6B7280"/>
                </a:solidFill>
                <a:latin typeface="Calibri" pitchFamily="34" charset="0"/>
                <a:ea typeface="Calibri" pitchFamily="34" charset="-122"/>
                <a:cs typeface="Calibri" pitchFamily="34" charset="-120"/>
              </a:rPr>
              <a:t>·  Phase 5 alternatives</a:t>
            </a:r>
            <a:endParaRPr lang="en-US" sz="1150" dirty="0"/>
          </a:p>
        </p:txBody>
      </p:sp>
      <p:sp>
        <p:nvSpPr>
          <p:cNvPr id="15" name="Text 13"/>
          <p:cNvSpPr/>
          <p:nvPr/>
        </p:nvSpPr>
        <p:spPr>
          <a:xfrm>
            <a:off x="6428232" y="2194560"/>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ur er are ow ew ue + wr kn ge dge mb gn ph wh</a:t>
            </a:r>
            <a:endParaRPr lang="en-US" sz="1050" dirty="0"/>
          </a:p>
        </p:txBody>
      </p:sp>
      <p:sp>
        <p:nvSpPr>
          <p:cNvPr id="16" name="Text 14"/>
          <p:cNvSpPr/>
          <p:nvPr/>
        </p:nvSpPr>
        <p:spPr>
          <a:xfrm>
            <a:off x="6428232" y="2880360"/>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Sentence types, noun phrases, conjunctions</a:t>
            </a:r>
            <a:endParaRPr lang="en-US" sz="1050" dirty="0"/>
          </a:p>
        </p:txBody>
      </p:sp>
      <p:sp>
        <p:nvSpPr>
          <p:cNvPr id="17" name="Shape 15"/>
          <p:cNvSpPr/>
          <p:nvPr/>
        </p:nvSpPr>
        <p:spPr>
          <a:xfrm>
            <a:off x="548640" y="3630168"/>
            <a:ext cx="5532120" cy="2331720"/>
          </a:xfrm>
          <a:prstGeom prst="rect">
            <a:avLst/>
          </a:prstGeom>
          <a:solidFill>
            <a:srgbClr val="FFFFFF"/>
          </a:solidFill>
          <a:ln w="12700">
            <a:solidFill>
              <a:srgbClr val="E5E7EB"/>
            </a:solidFill>
            <a:prstDash val="solid"/>
          </a:ln>
        </p:spPr>
      </p:sp>
      <p:sp>
        <p:nvSpPr>
          <p:cNvPr id="18" name="Shape 16"/>
          <p:cNvSpPr/>
          <p:nvPr/>
        </p:nvSpPr>
        <p:spPr>
          <a:xfrm>
            <a:off x="548640" y="3630168"/>
            <a:ext cx="5532120" cy="640080"/>
          </a:xfrm>
          <a:prstGeom prst="rect">
            <a:avLst/>
          </a:prstGeom>
          <a:solidFill>
            <a:srgbClr val="8B5CF6"/>
          </a:solidFill>
          <a:ln/>
        </p:spPr>
      </p:sp>
      <p:sp>
        <p:nvSpPr>
          <p:cNvPr id="19" name="Text 17"/>
          <p:cNvSpPr/>
          <p:nvPr/>
        </p:nvSpPr>
        <p:spPr>
          <a:xfrm>
            <a:off x="713232" y="3675888"/>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L7  Reading Together</a:t>
            </a:r>
            <a:endParaRPr lang="en-US" sz="1900" dirty="0"/>
          </a:p>
        </p:txBody>
      </p:sp>
      <p:sp>
        <p:nvSpPr>
          <p:cNvPr id="20" name="Text 18"/>
          <p:cNvSpPr/>
          <p:nvPr/>
        </p:nvSpPr>
        <p:spPr>
          <a:xfrm>
            <a:off x="4617720" y="3675888"/>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20 pp</a:t>
            </a:r>
            <a:endParaRPr lang="en-US" sz="1800" dirty="0"/>
          </a:p>
        </p:txBody>
      </p:sp>
      <p:sp>
        <p:nvSpPr>
          <p:cNvPr id="21" name="Text 19"/>
          <p:cNvSpPr/>
          <p:nvPr/>
        </p:nvSpPr>
        <p:spPr>
          <a:xfrm>
            <a:off x="713232" y="4379976"/>
            <a:ext cx="5202936" cy="292608"/>
          </a:xfrm>
          <a:prstGeom prst="rect">
            <a:avLst/>
          </a:prstGeom>
          <a:noFill/>
          <a:ln/>
        </p:spPr>
        <p:txBody>
          <a:bodyPr wrap="square" lIns="0" tIns="0" rIns="0" bIns="0" rtlCol="0" anchor="ctr"/>
          <a:lstStyle/>
          <a:p>
            <a:pPr indent="0" marL="0">
              <a:buNone/>
            </a:pPr>
            <a:r>
              <a:rPr lang="en-US" sz="1150" b="1" dirty="0">
                <a:solidFill>
                  <a:srgbClr val="8B5CF6"/>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6 sounds   </a:t>
            </a:r>
            <a:pPr indent="0" marL="0">
              <a:buNone/>
            </a:pPr>
            <a:r>
              <a:rPr lang="en-US" sz="1150" dirty="0">
                <a:solidFill>
                  <a:srgbClr val="6B7280"/>
                </a:solidFill>
                <a:latin typeface="Calibri" pitchFamily="34" charset="0"/>
                <a:ea typeface="Calibri" pitchFamily="34" charset="-122"/>
                <a:cs typeface="Calibri" pitchFamily="34" charset="-120"/>
              </a:rPr>
              <a:t>·  Phase 5 trigraphs</a:t>
            </a:r>
            <a:endParaRPr lang="en-US" sz="1150" dirty="0"/>
          </a:p>
        </p:txBody>
      </p:sp>
      <p:sp>
        <p:nvSpPr>
          <p:cNvPr id="22" name="Text 20"/>
          <p:cNvSpPr/>
          <p:nvPr/>
        </p:nvSpPr>
        <p:spPr>
          <a:xfrm>
            <a:off x="713232" y="4727448"/>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ire ore ear oor ure tion</a:t>
            </a:r>
            <a:endParaRPr lang="en-US" sz="1050" dirty="0"/>
          </a:p>
        </p:txBody>
      </p:sp>
      <p:sp>
        <p:nvSpPr>
          <p:cNvPr id="23" name="Text 21"/>
          <p:cNvSpPr/>
          <p:nvPr/>
        </p:nvSpPr>
        <p:spPr>
          <a:xfrm>
            <a:off x="713232" y="5413248"/>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Apostrophes, homophones, recount</a:t>
            </a:r>
            <a:endParaRPr lang="en-US" sz="1050" dirty="0"/>
          </a:p>
        </p:txBody>
      </p:sp>
      <p:sp>
        <p:nvSpPr>
          <p:cNvPr id="24" name="Shape 22"/>
          <p:cNvSpPr/>
          <p:nvPr/>
        </p:nvSpPr>
        <p:spPr>
          <a:xfrm>
            <a:off x="6263640" y="3630168"/>
            <a:ext cx="5532120" cy="2331720"/>
          </a:xfrm>
          <a:prstGeom prst="rect">
            <a:avLst/>
          </a:prstGeom>
          <a:solidFill>
            <a:srgbClr val="FFFFFF"/>
          </a:solidFill>
          <a:ln w="12700">
            <a:solidFill>
              <a:srgbClr val="E5E7EB"/>
            </a:solidFill>
            <a:prstDash val="solid"/>
          </a:ln>
        </p:spPr>
      </p:sp>
      <p:sp>
        <p:nvSpPr>
          <p:cNvPr id="25" name="Shape 23"/>
          <p:cNvSpPr/>
          <p:nvPr/>
        </p:nvSpPr>
        <p:spPr>
          <a:xfrm>
            <a:off x="6263640" y="3630168"/>
            <a:ext cx="5532120" cy="640080"/>
          </a:xfrm>
          <a:prstGeom prst="rect">
            <a:avLst/>
          </a:prstGeom>
          <a:solidFill>
            <a:srgbClr val="14B8A6"/>
          </a:solidFill>
          <a:ln/>
        </p:spPr>
      </p:sp>
      <p:sp>
        <p:nvSpPr>
          <p:cNvPr id="26" name="Text 24"/>
          <p:cNvSpPr/>
          <p:nvPr/>
        </p:nvSpPr>
        <p:spPr>
          <a:xfrm>
            <a:off x="6428232" y="3675888"/>
            <a:ext cx="3886200" cy="54864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L8  Reading Champion</a:t>
            </a:r>
            <a:endParaRPr lang="en-US" sz="1900" dirty="0"/>
          </a:p>
        </p:txBody>
      </p:sp>
      <p:sp>
        <p:nvSpPr>
          <p:cNvPr id="27" name="Text 25"/>
          <p:cNvSpPr/>
          <p:nvPr/>
        </p:nvSpPr>
        <p:spPr>
          <a:xfrm>
            <a:off x="10332720" y="3675888"/>
            <a:ext cx="1325880" cy="548640"/>
          </a:xfrm>
          <a:prstGeom prst="rect">
            <a:avLst/>
          </a:prstGeom>
          <a:noFill/>
          <a:ln/>
        </p:spPr>
        <p:txBody>
          <a:bodyPr wrap="square" lIns="0" tIns="0" rIns="0" bIns="0" rtlCol="0" anchor="ctr"/>
          <a:lstStyle/>
          <a:p>
            <a:pPr algn="r" indent="0" marL="0">
              <a:buNone/>
            </a:pPr>
            <a:r>
              <a:rPr lang="en-US" sz="1800" b="1" dirty="0">
                <a:solidFill>
                  <a:srgbClr val="FFFFFF"/>
                </a:solidFill>
                <a:latin typeface="Trebuchet MS" pitchFamily="34" charset="0"/>
                <a:ea typeface="Trebuchet MS" pitchFamily="34" charset="-122"/>
                <a:cs typeface="Trebuchet MS" pitchFamily="34" charset="-120"/>
              </a:rPr>
              <a:t>19 pp</a:t>
            </a:r>
            <a:endParaRPr lang="en-US" sz="1800" dirty="0"/>
          </a:p>
        </p:txBody>
      </p:sp>
      <p:sp>
        <p:nvSpPr>
          <p:cNvPr id="28" name="Text 26"/>
          <p:cNvSpPr/>
          <p:nvPr/>
        </p:nvSpPr>
        <p:spPr>
          <a:xfrm>
            <a:off x="6428232" y="4379976"/>
            <a:ext cx="5202936" cy="292608"/>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Phonics  </a:t>
            </a:r>
            <a:pPr indent="0" marL="0">
              <a:buNone/>
            </a:pPr>
            <a:r>
              <a:rPr lang="en-US" sz="1150" dirty="0">
                <a:solidFill>
                  <a:srgbClr val="374151"/>
                </a:solidFill>
                <a:latin typeface="Calibri" pitchFamily="34" charset="0"/>
                <a:ea typeface="Calibri" pitchFamily="34" charset="-122"/>
                <a:cs typeface="Calibri" pitchFamily="34" charset="-120"/>
              </a:rPr>
              <a:t>5 suffix   </a:t>
            </a:r>
            <a:pPr indent="0" marL="0">
              <a:buNone/>
            </a:pPr>
            <a:r>
              <a:rPr lang="en-US" sz="1150" dirty="0">
                <a:solidFill>
                  <a:srgbClr val="6B7280"/>
                </a:solidFill>
                <a:latin typeface="Calibri" pitchFamily="34" charset="0"/>
                <a:ea typeface="Calibri" pitchFamily="34" charset="-122"/>
                <a:cs typeface="Calibri" pitchFamily="34" charset="-120"/>
              </a:rPr>
              <a:t>·  Phase 6 morphology</a:t>
            </a:r>
            <a:endParaRPr lang="en-US" sz="1150" dirty="0"/>
          </a:p>
        </p:txBody>
      </p:sp>
      <p:sp>
        <p:nvSpPr>
          <p:cNvPr id="29" name="Text 27"/>
          <p:cNvSpPr/>
          <p:nvPr/>
        </p:nvSpPr>
        <p:spPr>
          <a:xfrm>
            <a:off x="6428232" y="4727448"/>
            <a:ext cx="5202936" cy="54864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New code:  </a:t>
            </a:r>
            <a:pPr indent="0" marL="0">
              <a:buNone/>
            </a:pPr>
            <a:r>
              <a:rPr lang="en-US" sz="1050" i="1" dirty="0">
                <a:solidFill>
                  <a:srgbClr val="4B5563"/>
                </a:solidFill>
                <a:latin typeface="Calibri" pitchFamily="34" charset="0"/>
                <a:ea typeface="Calibri" pitchFamily="34" charset="-122"/>
                <a:cs typeface="Calibri" pitchFamily="34" charset="-120"/>
              </a:rPr>
              <a:t>-ous -cious -tious -able -ible</a:t>
            </a:r>
            <a:endParaRPr lang="en-US" sz="1050" dirty="0"/>
          </a:p>
        </p:txBody>
      </p:sp>
      <p:sp>
        <p:nvSpPr>
          <p:cNvPr id="30" name="Text 28"/>
          <p:cNvSpPr/>
          <p:nvPr/>
        </p:nvSpPr>
        <p:spPr>
          <a:xfrm>
            <a:off x="6428232" y="5413248"/>
            <a:ext cx="5202936" cy="457200"/>
          </a:xfrm>
          <a:prstGeom prst="rect">
            <a:avLst/>
          </a:prstGeom>
          <a:noFill/>
          <a:ln/>
        </p:spPr>
        <p:txBody>
          <a:bodyPr wrap="square" lIns="0" tIns="0" rIns="0" bIns="0" rtlCol="0" anchor="t"/>
          <a:lstStyle/>
          <a:p>
            <a:pPr indent="0" marL="0">
              <a:buNone/>
            </a:pPr>
            <a:r>
              <a:rPr lang="en-US" sz="1050" b="1" dirty="0">
                <a:solidFill>
                  <a:srgbClr val="1E1B4B"/>
                </a:solidFill>
                <a:latin typeface="Calibri" pitchFamily="34" charset="0"/>
                <a:ea typeface="Calibri" pitchFamily="34" charset="-122"/>
                <a:cs typeface="Calibri" pitchFamily="34" charset="-120"/>
              </a:rPr>
              <a:t>Grammar:  </a:t>
            </a:r>
            <a:pPr indent="0" marL="0">
              <a:buNone/>
            </a:pPr>
            <a:r>
              <a:rPr lang="en-US" sz="1050" dirty="0">
                <a:solidFill>
                  <a:srgbClr val="4B5563"/>
                </a:solidFill>
                <a:latin typeface="Calibri" pitchFamily="34" charset="0"/>
                <a:ea typeface="Calibri" pitchFamily="34" charset="-122"/>
                <a:cs typeface="Calibri" pitchFamily="34" charset="-120"/>
              </a:rPr>
              <a:t>Fronted adverbials, speech marks, editing</a:t>
            </a:r>
            <a:endParaRPr lang="en-US" sz="1050" dirty="0"/>
          </a:p>
        </p:txBody>
      </p:sp>
      <p:sp>
        <p:nvSpPr>
          <p:cNvPr id="31" name="Text 29"/>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32" name="Text 30"/>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L5 to L8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200" b="1" dirty="0">
                <a:solidFill>
                  <a:srgbClr val="1E1B4B"/>
                </a:solidFill>
                <a:latin typeface="Trebuchet MS" pitchFamily="34" charset="0"/>
                <a:ea typeface="Trebuchet MS" pitchFamily="34" charset="-122"/>
                <a:cs typeface="Trebuchet MS" pitchFamily="34" charset="-120"/>
              </a:rPr>
              <a:t>Template backlog</a:t>
            </a:r>
            <a:endParaRPr lang="en-US" sz="3200" dirty="0"/>
          </a:p>
        </p:txBody>
      </p:sp>
      <p:sp>
        <p:nvSpPr>
          <p:cNvPr id="3" name="Text 1"/>
          <p:cNvSpPr/>
          <p:nvPr/>
        </p:nvSpPr>
        <p:spPr>
          <a:xfrm>
            <a:off x="566928" y="1051560"/>
            <a:ext cx="1106424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Every template obeys the locked spec: A4 in mm, ~96% height fill, inline headers, boxless trace, Andika via TraceLine, level colour from getLevelTheme().</a:t>
            </a:r>
            <a:endParaRPr lang="en-US" sz="1350" dirty="0"/>
          </a:p>
        </p:txBody>
      </p:sp>
      <p:sp>
        <p:nvSpPr>
          <p:cNvPr id="4" name="Shape 2"/>
          <p:cNvSpPr/>
          <p:nvPr/>
        </p:nvSpPr>
        <p:spPr>
          <a:xfrm>
            <a:off x="548640" y="1691640"/>
            <a:ext cx="3520440" cy="1371600"/>
          </a:xfrm>
          <a:prstGeom prst="rect">
            <a:avLst/>
          </a:prstGeom>
          <a:solidFill>
            <a:srgbClr val="FFFFFF"/>
          </a:solidFill>
          <a:ln w="12700">
            <a:solidFill>
              <a:srgbClr val="E5E7EB"/>
            </a:solidFill>
            <a:prstDash val="solid"/>
          </a:ln>
        </p:spPr>
      </p:sp>
      <p:sp>
        <p:nvSpPr>
          <p:cNvPr id="5" name="Shape 3"/>
          <p:cNvSpPr/>
          <p:nvPr/>
        </p:nvSpPr>
        <p:spPr>
          <a:xfrm>
            <a:off x="548640" y="1691640"/>
            <a:ext cx="3520440" cy="91440"/>
          </a:xfrm>
          <a:prstGeom prst="rect">
            <a:avLst/>
          </a:prstGeom>
          <a:solidFill>
            <a:srgbClr val="22C55E"/>
          </a:solidFill>
          <a:ln/>
        </p:spPr>
      </p:sp>
      <p:sp>
        <p:nvSpPr>
          <p:cNvPr id="6" name="Text 4"/>
          <p:cNvSpPr/>
          <p:nvPr/>
        </p:nvSpPr>
        <p:spPr>
          <a:xfrm>
            <a:off x="640080" y="1828800"/>
            <a:ext cx="3337560" cy="731520"/>
          </a:xfrm>
          <a:prstGeom prst="rect">
            <a:avLst/>
          </a:prstGeom>
          <a:noFill/>
          <a:ln/>
        </p:spPr>
        <p:txBody>
          <a:bodyPr wrap="square" lIns="0" tIns="0" rIns="0" bIns="0" rtlCol="0" anchor="ctr"/>
          <a:lstStyle/>
          <a:p>
            <a:pPr indent="0" marL="0">
              <a:buNone/>
            </a:pPr>
            <a:r>
              <a:rPr lang="en-US" sz="4000" b="1" dirty="0">
                <a:solidFill>
                  <a:srgbClr val="22C55E"/>
                </a:solidFill>
                <a:latin typeface="Trebuchet MS" pitchFamily="34" charset="0"/>
                <a:ea typeface="Trebuchet MS" pitchFamily="34" charset="-122"/>
                <a:cs typeface="Trebuchet MS" pitchFamily="34" charset="-120"/>
              </a:rPr>
              <a:t>1</a:t>
            </a:r>
            <a:endParaRPr lang="en-US" sz="4000" dirty="0"/>
          </a:p>
        </p:txBody>
      </p:sp>
      <p:sp>
        <p:nvSpPr>
          <p:cNvPr id="7" name="Text 5"/>
          <p:cNvSpPr/>
          <p:nvPr/>
        </p:nvSpPr>
        <p:spPr>
          <a:xfrm>
            <a:off x="658368" y="2560320"/>
            <a:ext cx="3291840" cy="274320"/>
          </a:xfrm>
          <a:prstGeom prst="rect">
            <a:avLst/>
          </a:prstGeom>
          <a:noFill/>
          <a:ln/>
        </p:spPr>
        <p:txBody>
          <a:bodyPr wrap="square" lIns="0" tIns="0" rIns="0" bIns="0" rtlCol="0" anchor="ctr"/>
          <a:lstStyle/>
          <a:p>
            <a:pPr indent="0" marL="0">
              <a:buNone/>
            </a:pPr>
            <a:r>
              <a:rPr lang="en-US" sz="1400" b="1" dirty="0">
                <a:solidFill>
                  <a:srgbClr val="1E1B4B"/>
                </a:solidFill>
                <a:latin typeface="Trebuchet MS" pitchFamily="34" charset="0"/>
                <a:ea typeface="Trebuchet MS" pitchFamily="34" charset="-122"/>
                <a:cs typeface="Trebuchet MS" pitchFamily="34" charset="-120"/>
              </a:rPr>
              <a:t>template built</a:t>
            </a:r>
            <a:endParaRPr lang="en-US" sz="1400" dirty="0"/>
          </a:p>
        </p:txBody>
      </p:sp>
      <p:sp>
        <p:nvSpPr>
          <p:cNvPr id="8" name="Text 6"/>
          <p:cNvSpPr/>
          <p:nvPr/>
        </p:nvSpPr>
        <p:spPr>
          <a:xfrm>
            <a:off x="658368" y="2816352"/>
            <a:ext cx="3291840"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SingleSound, the locked master</a:t>
            </a:r>
            <a:endParaRPr lang="en-US" sz="1050" dirty="0"/>
          </a:p>
        </p:txBody>
      </p:sp>
      <p:sp>
        <p:nvSpPr>
          <p:cNvPr id="9" name="Shape 7"/>
          <p:cNvSpPr/>
          <p:nvPr/>
        </p:nvSpPr>
        <p:spPr>
          <a:xfrm>
            <a:off x="4297680" y="1691640"/>
            <a:ext cx="3520440" cy="1371600"/>
          </a:xfrm>
          <a:prstGeom prst="rect">
            <a:avLst/>
          </a:prstGeom>
          <a:solidFill>
            <a:srgbClr val="FFFFFF"/>
          </a:solidFill>
          <a:ln w="12700">
            <a:solidFill>
              <a:srgbClr val="E5E7EB"/>
            </a:solidFill>
            <a:prstDash val="solid"/>
          </a:ln>
        </p:spPr>
      </p:sp>
      <p:sp>
        <p:nvSpPr>
          <p:cNvPr id="10" name="Shape 8"/>
          <p:cNvSpPr/>
          <p:nvPr/>
        </p:nvSpPr>
        <p:spPr>
          <a:xfrm>
            <a:off x="4297680" y="1691640"/>
            <a:ext cx="3520440" cy="91440"/>
          </a:xfrm>
          <a:prstGeom prst="rect">
            <a:avLst/>
          </a:prstGeom>
          <a:solidFill>
            <a:srgbClr val="8B5CF6"/>
          </a:solidFill>
          <a:ln/>
        </p:spPr>
      </p:sp>
      <p:sp>
        <p:nvSpPr>
          <p:cNvPr id="11" name="Text 9"/>
          <p:cNvSpPr/>
          <p:nvPr/>
        </p:nvSpPr>
        <p:spPr>
          <a:xfrm>
            <a:off x="4389120" y="1828800"/>
            <a:ext cx="3337560" cy="731520"/>
          </a:xfrm>
          <a:prstGeom prst="rect">
            <a:avLst/>
          </a:prstGeom>
          <a:noFill/>
          <a:ln/>
        </p:spPr>
        <p:txBody>
          <a:bodyPr wrap="square" lIns="0" tIns="0" rIns="0" bIns="0" rtlCol="0" anchor="ctr"/>
          <a:lstStyle/>
          <a:p>
            <a:pPr indent="0" marL="0">
              <a:buNone/>
            </a:pPr>
            <a:r>
              <a:rPr lang="en-US" sz="4000" b="1" dirty="0">
                <a:solidFill>
                  <a:srgbClr val="8B5CF6"/>
                </a:solidFill>
                <a:latin typeface="Trebuchet MS" pitchFamily="34" charset="0"/>
                <a:ea typeface="Trebuchet MS" pitchFamily="34" charset="-122"/>
                <a:cs typeface="Trebuchet MS" pitchFamily="34" charset="-120"/>
              </a:rPr>
              <a:t>~30</a:t>
            </a:r>
            <a:endParaRPr lang="en-US" sz="4000" dirty="0"/>
          </a:p>
        </p:txBody>
      </p:sp>
      <p:sp>
        <p:nvSpPr>
          <p:cNvPr id="12" name="Text 10"/>
          <p:cNvSpPr/>
          <p:nvPr/>
        </p:nvSpPr>
        <p:spPr>
          <a:xfrm>
            <a:off x="4407408" y="2560320"/>
            <a:ext cx="3291840" cy="274320"/>
          </a:xfrm>
          <a:prstGeom prst="rect">
            <a:avLst/>
          </a:prstGeom>
          <a:noFill/>
          <a:ln/>
        </p:spPr>
        <p:txBody>
          <a:bodyPr wrap="square" lIns="0" tIns="0" rIns="0" bIns="0" rtlCol="0" anchor="ctr"/>
          <a:lstStyle/>
          <a:p>
            <a:pPr indent="0" marL="0">
              <a:buNone/>
            </a:pPr>
            <a:r>
              <a:rPr lang="en-US" sz="1400" b="1" dirty="0">
                <a:solidFill>
                  <a:srgbClr val="1E1B4B"/>
                </a:solidFill>
                <a:latin typeface="Trebuchet MS" pitchFamily="34" charset="0"/>
                <a:ea typeface="Trebuchet MS" pitchFamily="34" charset="-122"/>
                <a:cs typeface="Trebuchet MS" pitchFamily="34" charset="-120"/>
              </a:rPr>
              <a:t>to build</a:t>
            </a:r>
            <a:endParaRPr lang="en-US" sz="1400" dirty="0"/>
          </a:p>
        </p:txBody>
      </p:sp>
      <p:sp>
        <p:nvSpPr>
          <p:cNvPr id="13" name="Text 11"/>
          <p:cNvSpPr/>
          <p:nvPr/>
        </p:nvSpPr>
        <p:spPr>
          <a:xfrm>
            <a:off x="4407408" y="2816352"/>
            <a:ext cx="3291840"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cover, handwriting, grammar, spelling, sentence</a:t>
            </a:r>
            <a:endParaRPr lang="en-US" sz="1050" dirty="0"/>
          </a:p>
        </p:txBody>
      </p:sp>
      <p:sp>
        <p:nvSpPr>
          <p:cNvPr id="14" name="Shape 12"/>
          <p:cNvSpPr/>
          <p:nvPr/>
        </p:nvSpPr>
        <p:spPr>
          <a:xfrm>
            <a:off x="8046720" y="1691640"/>
            <a:ext cx="3520440" cy="1371600"/>
          </a:xfrm>
          <a:prstGeom prst="rect">
            <a:avLst/>
          </a:prstGeom>
          <a:solidFill>
            <a:srgbClr val="FFFFFF"/>
          </a:solidFill>
          <a:ln w="12700">
            <a:solidFill>
              <a:srgbClr val="E5E7EB"/>
            </a:solidFill>
            <a:prstDash val="solid"/>
          </a:ln>
        </p:spPr>
      </p:sp>
      <p:sp>
        <p:nvSpPr>
          <p:cNvPr id="15" name="Shape 13"/>
          <p:cNvSpPr/>
          <p:nvPr/>
        </p:nvSpPr>
        <p:spPr>
          <a:xfrm>
            <a:off x="8046720" y="1691640"/>
            <a:ext cx="3520440" cy="91440"/>
          </a:xfrm>
          <a:prstGeom prst="rect">
            <a:avLst/>
          </a:prstGeom>
          <a:solidFill>
            <a:srgbClr val="F59E0B"/>
          </a:solidFill>
          <a:ln/>
        </p:spPr>
      </p:sp>
      <p:sp>
        <p:nvSpPr>
          <p:cNvPr id="16" name="Text 14"/>
          <p:cNvSpPr/>
          <p:nvPr/>
        </p:nvSpPr>
        <p:spPr>
          <a:xfrm>
            <a:off x="8138160" y="1828800"/>
            <a:ext cx="3337560" cy="731520"/>
          </a:xfrm>
          <a:prstGeom prst="rect">
            <a:avLst/>
          </a:prstGeom>
          <a:noFill/>
          <a:ln/>
        </p:spPr>
        <p:txBody>
          <a:bodyPr wrap="square" lIns="0" tIns="0" rIns="0" bIns="0" rtlCol="0" anchor="ctr"/>
          <a:lstStyle/>
          <a:p>
            <a:pPr indent="0" marL="0">
              <a:buNone/>
            </a:pPr>
            <a:r>
              <a:rPr lang="en-US" sz="4000" b="1" dirty="0">
                <a:solidFill>
                  <a:srgbClr val="F59E0B"/>
                </a:solidFill>
                <a:latin typeface="Trebuchet MS" pitchFamily="34" charset="0"/>
                <a:ea typeface="Trebuchet MS" pitchFamily="34" charset="-122"/>
                <a:cs typeface="Trebuchet MS" pitchFamily="34" charset="-120"/>
              </a:rPr>
              <a:t>9</a:t>
            </a:r>
            <a:endParaRPr lang="en-US" sz="4000" dirty="0"/>
          </a:p>
        </p:txBody>
      </p:sp>
      <p:sp>
        <p:nvSpPr>
          <p:cNvPr id="17" name="Text 15"/>
          <p:cNvSpPr/>
          <p:nvPr/>
        </p:nvSpPr>
        <p:spPr>
          <a:xfrm>
            <a:off x="8156448" y="2560320"/>
            <a:ext cx="3291840" cy="274320"/>
          </a:xfrm>
          <a:prstGeom prst="rect">
            <a:avLst/>
          </a:prstGeom>
          <a:noFill/>
          <a:ln/>
        </p:spPr>
        <p:txBody>
          <a:bodyPr wrap="square" lIns="0" tIns="0" rIns="0" bIns="0" rtlCol="0" anchor="ctr"/>
          <a:lstStyle/>
          <a:p>
            <a:pPr indent="0" marL="0">
              <a:buNone/>
            </a:pPr>
            <a:r>
              <a:rPr lang="en-US" sz="1400" b="1" dirty="0">
                <a:solidFill>
                  <a:srgbClr val="1E1B4B"/>
                </a:solidFill>
                <a:latin typeface="Trebuchet MS" pitchFamily="34" charset="0"/>
                <a:ea typeface="Trebuchet MS" pitchFamily="34" charset="-122"/>
                <a:cs typeface="Trebuchet MS" pitchFamily="34" charset="-120"/>
              </a:rPr>
              <a:t>drafts to reconcile</a:t>
            </a:r>
            <a:endParaRPr lang="en-US" sz="1400" dirty="0"/>
          </a:p>
        </p:txBody>
      </p:sp>
      <p:sp>
        <p:nvSpPr>
          <p:cNvPr id="18" name="Text 16"/>
          <p:cNvSpPr/>
          <p:nvPr/>
        </p:nvSpPr>
        <p:spPr>
          <a:xfrm>
            <a:off x="8156448" y="2816352"/>
            <a:ext cx="3291840"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existing templates to QA against the spec</a:t>
            </a:r>
            <a:endParaRPr lang="en-US" sz="1050" dirty="0"/>
          </a:p>
        </p:txBody>
      </p:sp>
      <p:sp>
        <p:nvSpPr>
          <p:cNvPr id="19" name="Text 17"/>
          <p:cNvSpPr/>
          <p:nvPr/>
        </p:nvSpPr>
        <p:spPr>
          <a:xfrm>
            <a:off x="548640" y="3383280"/>
            <a:ext cx="10972800" cy="365760"/>
          </a:xfrm>
          <a:prstGeom prst="rect">
            <a:avLst/>
          </a:prstGeom>
          <a:noFill/>
          <a:ln/>
        </p:spPr>
        <p:txBody>
          <a:bodyPr wrap="square" lIns="0" tIns="0" rIns="0" bIns="0" rtlCol="0" anchor="ctr"/>
          <a:lstStyle/>
          <a:p>
            <a:pPr indent="0" marL="0">
              <a:buNone/>
            </a:pPr>
            <a:r>
              <a:rPr lang="en-US" sz="1600" b="1" dirty="0">
                <a:solidFill>
                  <a:srgbClr val="1E1B4B"/>
                </a:solidFill>
                <a:latin typeface="Trebuchet MS" pitchFamily="34" charset="0"/>
                <a:ea typeface="Trebuchet MS" pitchFamily="34" charset="-122"/>
                <a:cs typeface="Trebuchet MS" pitchFamily="34" charset="-120"/>
              </a:rPr>
              <a:t>Priority 0 templates, the four that unlock most pages</a:t>
            </a:r>
            <a:endParaRPr lang="en-US" sz="1600" dirty="0"/>
          </a:p>
        </p:txBody>
      </p:sp>
      <p:sp>
        <p:nvSpPr>
          <p:cNvPr id="20" name="Shape 18"/>
          <p:cNvSpPr/>
          <p:nvPr/>
        </p:nvSpPr>
        <p:spPr>
          <a:xfrm>
            <a:off x="548640" y="3840480"/>
            <a:ext cx="5440680" cy="777240"/>
          </a:xfrm>
          <a:prstGeom prst="rect">
            <a:avLst/>
          </a:prstGeom>
          <a:solidFill>
            <a:srgbClr val="EEF0FB"/>
          </a:solidFill>
          <a:ln w="12700">
            <a:solidFill>
              <a:srgbClr val="C9B6FB"/>
            </a:solidFill>
            <a:prstDash val="solid"/>
          </a:ln>
        </p:spPr>
      </p:sp>
      <p:sp>
        <p:nvSpPr>
          <p:cNvPr id="21" name="Text 19"/>
          <p:cNvSpPr/>
          <p:nvPr/>
        </p:nvSpPr>
        <p:spPr>
          <a:xfrm>
            <a:off x="685800" y="3913632"/>
            <a:ext cx="5212080" cy="320040"/>
          </a:xfrm>
          <a:prstGeom prst="rect">
            <a:avLst/>
          </a:prstGeom>
          <a:noFill/>
          <a:ln/>
        </p:spPr>
        <p:txBody>
          <a:bodyPr wrap="square" lIns="0" tIns="0" rIns="0" bIns="0" rtlCol="0" anchor="ctr"/>
          <a:lstStyle/>
          <a:p>
            <a:pPr indent="0" marL="0">
              <a:buNone/>
            </a:pPr>
            <a:r>
              <a:rPr lang="en-US" sz="1350" b="1" dirty="0">
                <a:solidFill>
                  <a:srgbClr val="4338CA"/>
                </a:solidFill>
                <a:latin typeface="Trebuchet MS" pitchFamily="34" charset="0"/>
                <a:ea typeface="Trebuchet MS" pitchFamily="34" charset="-122"/>
                <a:cs typeface="Trebuchet MS" pitchFamily="34" charset="-120"/>
              </a:rPr>
              <a:t>BookletCover + ContentsPage</a:t>
            </a:r>
            <a:endParaRPr lang="en-US" sz="1350" dirty="0"/>
          </a:p>
        </p:txBody>
      </p:sp>
      <p:sp>
        <p:nvSpPr>
          <p:cNvPr id="22" name="Text 20"/>
          <p:cNvSpPr/>
          <p:nvPr/>
        </p:nvSpPr>
        <p:spPr>
          <a:xfrm>
            <a:off x="685800" y="4233672"/>
            <a:ext cx="521208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cover in level colour with mascot, numbered index</a:t>
            </a:r>
            <a:endParaRPr lang="en-US" sz="1100" dirty="0"/>
          </a:p>
        </p:txBody>
      </p:sp>
      <p:sp>
        <p:nvSpPr>
          <p:cNvPr id="23" name="Shape 21"/>
          <p:cNvSpPr/>
          <p:nvPr/>
        </p:nvSpPr>
        <p:spPr>
          <a:xfrm>
            <a:off x="6172200" y="3840480"/>
            <a:ext cx="5440680" cy="777240"/>
          </a:xfrm>
          <a:prstGeom prst="rect">
            <a:avLst/>
          </a:prstGeom>
          <a:solidFill>
            <a:srgbClr val="EEF0FB"/>
          </a:solidFill>
          <a:ln w="12700">
            <a:solidFill>
              <a:srgbClr val="C9B6FB"/>
            </a:solidFill>
            <a:prstDash val="solid"/>
          </a:ln>
        </p:spPr>
      </p:sp>
      <p:sp>
        <p:nvSpPr>
          <p:cNvPr id="24" name="Text 22"/>
          <p:cNvSpPr/>
          <p:nvPr/>
        </p:nvSpPr>
        <p:spPr>
          <a:xfrm>
            <a:off x="6309360" y="3913632"/>
            <a:ext cx="5212080" cy="320040"/>
          </a:xfrm>
          <a:prstGeom prst="rect">
            <a:avLst/>
          </a:prstGeom>
          <a:noFill/>
          <a:ln/>
        </p:spPr>
        <p:txBody>
          <a:bodyPr wrap="square" lIns="0" tIns="0" rIns="0" bIns="0" rtlCol="0" anchor="ctr"/>
          <a:lstStyle/>
          <a:p>
            <a:pPr indent="0" marL="0">
              <a:buNone/>
            </a:pPr>
            <a:r>
              <a:rPr lang="en-US" sz="1350" b="1" dirty="0">
                <a:solidFill>
                  <a:srgbClr val="4338CA"/>
                </a:solidFill>
                <a:latin typeface="Trebuchet MS" pitchFamily="34" charset="0"/>
                <a:ea typeface="Trebuchet MS" pitchFamily="34" charset="-122"/>
                <a:cs typeface="Trebuchet MS" pitchFamily="34" charset="-120"/>
              </a:rPr>
              <a:t>HandwritingCopy</a:t>
            </a:r>
            <a:endParaRPr lang="en-US" sz="1350" dirty="0"/>
          </a:p>
        </p:txBody>
      </p:sp>
      <p:sp>
        <p:nvSpPr>
          <p:cNvPr id="25" name="Text 23"/>
          <p:cNvSpPr/>
          <p:nvPr/>
        </p:nvSpPr>
        <p:spPr>
          <a:xfrm>
            <a:off x="6309360" y="4233672"/>
            <a:ext cx="521208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TraceLine rows, x-height shrinks by level, formation to joins</a:t>
            </a:r>
            <a:endParaRPr lang="en-US" sz="1100" dirty="0"/>
          </a:p>
        </p:txBody>
      </p:sp>
      <p:sp>
        <p:nvSpPr>
          <p:cNvPr id="26" name="Shape 24"/>
          <p:cNvSpPr/>
          <p:nvPr/>
        </p:nvSpPr>
        <p:spPr>
          <a:xfrm>
            <a:off x="548640" y="4754880"/>
            <a:ext cx="5440680" cy="777240"/>
          </a:xfrm>
          <a:prstGeom prst="rect">
            <a:avLst/>
          </a:prstGeom>
          <a:solidFill>
            <a:srgbClr val="EEF0FB"/>
          </a:solidFill>
          <a:ln w="12700">
            <a:solidFill>
              <a:srgbClr val="C9B6FB"/>
            </a:solidFill>
            <a:prstDash val="solid"/>
          </a:ln>
        </p:spPr>
      </p:sp>
      <p:sp>
        <p:nvSpPr>
          <p:cNvPr id="27" name="Text 25"/>
          <p:cNvSpPr/>
          <p:nvPr/>
        </p:nvSpPr>
        <p:spPr>
          <a:xfrm>
            <a:off x="685800" y="4828032"/>
            <a:ext cx="5212080" cy="320040"/>
          </a:xfrm>
          <a:prstGeom prst="rect">
            <a:avLst/>
          </a:prstGeom>
          <a:noFill/>
          <a:ln/>
        </p:spPr>
        <p:txBody>
          <a:bodyPr wrap="square" lIns="0" tIns="0" rIns="0" bIns="0" rtlCol="0" anchor="ctr"/>
          <a:lstStyle/>
          <a:p>
            <a:pPr indent="0" marL="0">
              <a:buNone/>
            </a:pPr>
            <a:r>
              <a:rPr lang="en-US" sz="1350" b="1" dirty="0">
                <a:solidFill>
                  <a:srgbClr val="4338CA"/>
                </a:solidFill>
                <a:latin typeface="Trebuchet MS" pitchFamily="34" charset="0"/>
                <a:ea typeface="Trebuchet MS" pitchFamily="34" charset="-122"/>
                <a:cs typeface="Trebuchet MS" pitchFamily="34" charset="-120"/>
              </a:rPr>
              <a:t>TrickyWords</a:t>
            </a:r>
            <a:endParaRPr lang="en-US" sz="1350" dirty="0"/>
          </a:p>
        </p:txBody>
      </p:sp>
      <p:sp>
        <p:nvSpPr>
          <p:cNvPr id="28" name="Text 26"/>
          <p:cNvSpPr/>
          <p:nvPr/>
        </p:nvSpPr>
        <p:spPr>
          <a:xfrm>
            <a:off x="685800" y="5148072"/>
            <a:ext cx="521208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trace, read and look-cover-write-check per level</a:t>
            </a:r>
            <a:endParaRPr lang="en-US" sz="1100" dirty="0"/>
          </a:p>
        </p:txBody>
      </p:sp>
      <p:sp>
        <p:nvSpPr>
          <p:cNvPr id="29" name="Shape 27"/>
          <p:cNvSpPr/>
          <p:nvPr/>
        </p:nvSpPr>
        <p:spPr>
          <a:xfrm>
            <a:off x="6172200" y="4754880"/>
            <a:ext cx="5440680" cy="777240"/>
          </a:xfrm>
          <a:prstGeom prst="rect">
            <a:avLst/>
          </a:prstGeom>
          <a:solidFill>
            <a:srgbClr val="EEF0FB"/>
          </a:solidFill>
          <a:ln w="12700">
            <a:solidFill>
              <a:srgbClr val="C9B6FB"/>
            </a:solidFill>
            <a:prstDash val="solid"/>
          </a:ln>
        </p:spPr>
      </p:sp>
      <p:sp>
        <p:nvSpPr>
          <p:cNvPr id="30" name="Text 28"/>
          <p:cNvSpPr/>
          <p:nvPr/>
        </p:nvSpPr>
        <p:spPr>
          <a:xfrm>
            <a:off x="6309360" y="4828032"/>
            <a:ext cx="5212080" cy="320040"/>
          </a:xfrm>
          <a:prstGeom prst="rect">
            <a:avLst/>
          </a:prstGeom>
          <a:noFill/>
          <a:ln/>
        </p:spPr>
        <p:txBody>
          <a:bodyPr wrap="square" lIns="0" tIns="0" rIns="0" bIns="0" rtlCol="0" anchor="ctr"/>
          <a:lstStyle/>
          <a:p>
            <a:pPr indent="0" marL="0">
              <a:buNone/>
            </a:pPr>
            <a:r>
              <a:rPr lang="en-US" sz="1350" b="1" dirty="0">
                <a:solidFill>
                  <a:srgbClr val="4338CA"/>
                </a:solidFill>
                <a:latin typeface="Trebuchet MS" pitchFamily="34" charset="0"/>
                <a:ea typeface="Trebuchet MS" pitchFamily="34" charset="-122"/>
                <a:cs typeface="Trebuchet MS" pitchFamily="34" charset="-120"/>
              </a:rPr>
              <a:t>Sentence-writing family</a:t>
            </a:r>
            <a:endParaRPr lang="en-US" sz="1350" dirty="0"/>
          </a:p>
        </p:txBody>
      </p:sp>
      <p:sp>
        <p:nvSpPr>
          <p:cNvPr id="31" name="Text 29"/>
          <p:cNvSpPr/>
          <p:nvPr/>
        </p:nvSpPr>
        <p:spPr>
          <a:xfrm>
            <a:off x="6309360" y="5148072"/>
            <a:ext cx="521208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Hold a Sentence, picture prompt, genre frame recount</a:t>
            </a:r>
            <a:endParaRPr lang="en-US" sz="1100" dirty="0"/>
          </a:p>
        </p:txBody>
      </p:sp>
      <p:sp>
        <p:nvSpPr>
          <p:cNvPr id="32" name="Text 30"/>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33" name="Text 31"/>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Backlog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200" b="1" dirty="0">
                <a:solidFill>
                  <a:srgbClr val="1E1B4B"/>
                </a:solidFill>
                <a:latin typeface="Trebuchet MS" pitchFamily="34" charset="0"/>
                <a:ea typeface="Trebuchet MS" pitchFamily="34" charset="-122"/>
                <a:cs typeface="Trebuchet MS" pitchFamily="34" charset="-120"/>
              </a:rPr>
              <a:t>Assets and clipart</a:t>
            </a:r>
            <a:endParaRPr lang="en-US" sz="3200" dirty="0"/>
          </a:p>
        </p:txBody>
      </p:sp>
      <p:sp>
        <p:nvSpPr>
          <p:cNvPr id="3" name="Text 1"/>
          <p:cNvSpPr/>
          <p:nvPr/>
        </p:nvSpPr>
        <p:spPr>
          <a:xfrm>
            <a:off x="566928" y="1051560"/>
            <a:ext cx="11064240" cy="41148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Flat single-object clipart, pure-white background, trimmed tight. One shared namespace, a reused word is generated once.</a:t>
            </a:r>
            <a:endParaRPr lang="en-US" sz="1350" dirty="0"/>
          </a:p>
        </p:txBody>
      </p:sp>
      <p:sp>
        <p:nvSpPr>
          <p:cNvPr id="4" name="Shape 2"/>
          <p:cNvSpPr/>
          <p:nvPr/>
        </p:nvSpPr>
        <p:spPr>
          <a:xfrm>
            <a:off x="548640" y="1645920"/>
            <a:ext cx="2606040" cy="1280160"/>
          </a:xfrm>
          <a:prstGeom prst="rect">
            <a:avLst/>
          </a:prstGeom>
          <a:solidFill>
            <a:srgbClr val="FFFFFF"/>
          </a:solidFill>
          <a:ln w="12700">
            <a:solidFill>
              <a:srgbClr val="E5E7EB"/>
            </a:solidFill>
            <a:prstDash val="solid"/>
          </a:ln>
        </p:spPr>
      </p:sp>
      <p:sp>
        <p:nvSpPr>
          <p:cNvPr id="5" name="Text 3"/>
          <p:cNvSpPr/>
          <p:nvPr/>
        </p:nvSpPr>
        <p:spPr>
          <a:xfrm>
            <a:off x="640080" y="1783080"/>
            <a:ext cx="2423160" cy="640080"/>
          </a:xfrm>
          <a:prstGeom prst="rect">
            <a:avLst/>
          </a:prstGeom>
          <a:noFill/>
          <a:ln/>
        </p:spPr>
        <p:txBody>
          <a:bodyPr wrap="square" lIns="0" tIns="0" rIns="0" bIns="0" rtlCol="0" anchor="ctr"/>
          <a:lstStyle/>
          <a:p>
            <a:pPr indent="0" marL="0">
              <a:buNone/>
            </a:pPr>
            <a:r>
              <a:rPr lang="en-US" sz="3800" b="1" dirty="0">
                <a:solidFill>
                  <a:srgbClr val="22C55E"/>
                </a:solidFill>
                <a:latin typeface="Trebuchet MS" pitchFamily="34" charset="0"/>
                <a:ea typeface="Trebuchet MS" pitchFamily="34" charset="-122"/>
                <a:cs typeface="Trebuchet MS" pitchFamily="34" charset="-120"/>
              </a:rPr>
              <a:t>13</a:t>
            </a:r>
            <a:endParaRPr lang="en-US" sz="3800" dirty="0"/>
          </a:p>
        </p:txBody>
      </p:sp>
      <p:sp>
        <p:nvSpPr>
          <p:cNvPr id="6" name="Text 4"/>
          <p:cNvSpPr/>
          <p:nvPr/>
        </p:nvSpPr>
        <p:spPr>
          <a:xfrm>
            <a:off x="658368" y="2468880"/>
            <a:ext cx="2377440" cy="320040"/>
          </a:xfrm>
          <a:prstGeom prst="rect">
            <a:avLst/>
          </a:prstGeom>
          <a:noFill/>
          <a:ln/>
        </p:spPr>
        <p:txBody>
          <a:bodyPr wrap="square" lIns="0" tIns="0" rIns="0" bIns="0" rtlCol="0" anchor="t"/>
          <a:lstStyle/>
          <a:p>
            <a:pPr indent="0" marL="0">
              <a:buNone/>
            </a:pPr>
            <a:r>
              <a:rPr lang="en-US" sz="1300" b="1" dirty="0">
                <a:solidFill>
                  <a:srgbClr val="1E1B4B"/>
                </a:solidFill>
                <a:latin typeface="Trebuchet MS" pitchFamily="34" charset="0"/>
                <a:ea typeface="Trebuchet MS" pitchFamily="34" charset="-122"/>
                <a:cs typeface="Trebuchet MS" pitchFamily="34" charset="-120"/>
              </a:rPr>
              <a:t>assets exist</a:t>
            </a:r>
            <a:endParaRPr lang="en-US" sz="1300" dirty="0"/>
          </a:p>
        </p:txBody>
      </p:sp>
      <p:sp>
        <p:nvSpPr>
          <p:cNvPr id="7" name="Shape 5"/>
          <p:cNvSpPr/>
          <p:nvPr/>
        </p:nvSpPr>
        <p:spPr>
          <a:xfrm>
            <a:off x="3337560" y="1645920"/>
            <a:ext cx="2606040" cy="1280160"/>
          </a:xfrm>
          <a:prstGeom prst="rect">
            <a:avLst/>
          </a:prstGeom>
          <a:solidFill>
            <a:srgbClr val="FFFFFF"/>
          </a:solidFill>
          <a:ln w="12700">
            <a:solidFill>
              <a:srgbClr val="E5E7EB"/>
            </a:solidFill>
            <a:prstDash val="solid"/>
          </a:ln>
        </p:spPr>
      </p:sp>
      <p:sp>
        <p:nvSpPr>
          <p:cNvPr id="8" name="Text 6"/>
          <p:cNvSpPr/>
          <p:nvPr/>
        </p:nvSpPr>
        <p:spPr>
          <a:xfrm>
            <a:off x="3429000" y="1783080"/>
            <a:ext cx="2423160" cy="640080"/>
          </a:xfrm>
          <a:prstGeom prst="rect">
            <a:avLst/>
          </a:prstGeom>
          <a:noFill/>
          <a:ln/>
        </p:spPr>
        <p:txBody>
          <a:bodyPr wrap="square" lIns="0" tIns="0" rIns="0" bIns="0" rtlCol="0" anchor="ctr"/>
          <a:lstStyle/>
          <a:p>
            <a:pPr indent="0" marL="0">
              <a:buNone/>
            </a:pPr>
            <a:r>
              <a:rPr lang="en-US" sz="3800" b="1" dirty="0">
                <a:solidFill>
                  <a:srgbClr val="8B5CF6"/>
                </a:solidFill>
                <a:latin typeface="Trebuchet MS" pitchFamily="34" charset="0"/>
                <a:ea typeface="Trebuchet MS" pitchFamily="34" charset="-122"/>
                <a:cs typeface="Trebuchet MS" pitchFamily="34" charset="-120"/>
              </a:rPr>
              <a:t>~125</a:t>
            </a:r>
            <a:endParaRPr lang="en-US" sz="3800" dirty="0"/>
          </a:p>
        </p:txBody>
      </p:sp>
      <p:sp>
        <p:nvSpPr>
          <p:cNvPr id="9" name="Text 7"/>
          <p:cNvSpPr/>
          <p:nvPr/>
        </p:nvSpPr>
        <p:spPr>
          <a:xfrm>
            <a:off x="3447288" y="2468880"/>
            <a:ext cx="2377440" cy="320040"/>
          </a:xfrm>
          <a:prstGeom prst="rect">
            <a:avLst/>
          </a:prstGeom>
          <a:noFill/>
          <a:ln/>
        </p:spPr>
        <p:txBody>
          <a:bodyPr wrap="square" lIns="0" tIns="0" rIns="0" bIns="0" rtlCol="0" anchor="t"/>
          <a:lstStyle/>
          <a:p>
            <a:pPr indent="0" marL="0">
              <a:buNone/>
            </a:pPr>
            <a:r>
              <a:rPr lang="en-US" sz="1300" b="1" dirty="0">
                <a:solidFill>
                  <a:srgbClr val="1E1B4B"/>
                </a:solidFill>
                <a:latin typeface="Trebuchet MS" pitchFamily="34" charset="0"/>
                <a:ea typeface="Trebuchet MS" pitchFamily="34" charset="-122"/>
                <a:cs typeface="Trebuchet MS" pitchFamily="34" charset="-120"/>
              </a:rPr>
              <a:t>new objects</a:t>
            </a:r>
            <a:endParaRPr lang="en-US" sz="1300" dirty="0"/>
          </a:p>
        </p:txBody>
      </p:sp>
      <p:sp>
        <p:nvSpPr>
          <p:cNvPr id="10" name="Shape 8"/>
          <p:cNvSpPr/>
          <p:nvPr/>
        </p:nvSpPr>
        <p:spPr>
          <a:xfrm>
            <a:off x="6126480" y="1645920"/>
            <a:ext cx="2606040" cy="1280160"/>
          </a:xfrm>
          <a:prstGeom prst="rect">
            <a:avLst/>
          </a:prstGeom>
          <a:solidFill>
            <a:srgbClr val="FFFFFF"/>
          </a:solidFill>
          <a:ln w="12700">
            <a:solidFill>
              <a:srgbClr val="E5E7EB"/>
            </a:solidFill>
            <a:prstDash val="solid"/>
          </a:ln>
        </p:spPr>
      </p:sp>
      <p:sp>
        <p:nvSpPr>
          <p:cNvPr id="11" name="Text 9"/>
          <p:cNvSpPr/>
          <p:nvPr/>
        </p:nvSpPr>
        <p:spPr>
          <a:xfrm>
            <a:off x="6217920" y="1783080"/>
            <a:ext cx="2423160" cy="640080"/>
          </a:xfrm>
          <a:prstGeom prst="rect">
            <a:avLst/>
          </a:prstGeom>
          <a:noFill/>
          <a:ln/>
        </p:spPr>
        <p:txBody>
          <a:bodyPr wrap="square" lIns="0" tIns="0" rIns="0" bIns="0" rtlCol="0" anchor="ctr"/>
          <a:lstStyle/>
          <a:p>
            <a:pPr indent="0" marL="0">
              <a:buNone/>
            </a:pPr>
            <a:r>
              <a:rPr lang="en-US" sz="3800" b="1" dirty="0">
                <a:solidFill>
                  <a:srgbClr val="E84B8A"/>
                </a:solidFill>
                <a:latin typeface="Trebuchet MS" pitchFamily="34" charset="0"/>
                <a:ea typeface="Trebuchet MS" pitchFamily="34" charset="-122"/>
                <a:cs typeface="Trebuchet MS" pitchFamily="34" charset="-120"/>
              </a:rPr>
              <a:t>8</a:t>
            </a:r>
            <a:endParaRPr lang="en-US" sz="3800" dirty="0"/>
          </a:p>
        </p:txBody>
      </p:sp>
      <p:sp>
        <p:nvSpPr>
          <p:cNvPr id="12" name="Text 10"/>
          <p:cNvSpPr/>
          <p:nvPr/>
        </p:nvSpPr>
        <p:spPr>
          <a:xfrm>
            <a:off x="6236208" y="2468880"/>
            <a:ext cx="2377440" cy="320040"/>
          </a:xfrm>
          <a:prstGeom prst="rect">
            <a:avLst/>
          </a:prstGeom>
          <a:noFill/>
          <a:ln/>
        </p:spPr>
        <p:txBody>
          <a:bodyPr wrap="square" lIns="0" tIns="0" rIns="0" bIns="0" rtlCol="0" anchor="t"/>
          <a:lstStyle/>
          <a:p>
            <a:pPr indent="0" marL="0">
              <a:buNone/>
            </a:pPr>
            <a:r>
              <a:rPr lang="en-US" sz="1300" b="1" dirty="0">
                <a:solidFill>
                  <a:srgbClr val="1E1B4B"/>
                </a:solidFill>
                <a:latin typeface="Trebuchet MS" pitchFamily="34" charset="0"/>
                <a:ea typeface="Trebuchet MS" pitchFamily="34" charset="-122"/>
                <a:cs typeface="Trebuchet MS" pitchFamily="34" charset="-120"/>
              </a:rPr>
              <a:t>cover mascots</a:t>
            </a:r>
            <a:endParaRPr lang="en-US" sz="1300" dirty="0"/>
          </a:p>
        </p:txBody>
      </p:sp>
      <p:sp>
        <p:nvSpPr>
          <p:cNvPr id="13" name="Shape 11"/>
          <p:cNvSpPr/>
          <p:nvPr/>
        </p:nvSpPr>
        <p:spPr>
          <a:xfrm>
            <a:off x="8915400" y="1645920"/>
            <a:ext cx="2606040" cy="1280160"/>
          </a:xfrm>
          <a:prstGeom prst="rect">
            <a:avLst/>
          </a:prstGeom>
          <a:solidFill>
            <a:srgbClr val="FFFFFF"/>
          </a:solidFill>
          <a:ln w="12700">
            <a:solidFill>
              <a:srgbClr val="E5E7EB"/>
            </a:solidFill>
            <a:prstDash val="solid"/>
          </a:ln>
        </p:spPr>
      </p:sp>
      <p:sp>
        <p:nvSpPr>
          <p:cNvPr id="14" name="Text 12"/>
          <p:cNvSpPr/>
          <p:nvPr/>
        </p:nvSpPr>
        <p:spPr>
          <a:xfrm>
            <a:off x="9006840" y="1783080"/>
            <a:ext cx="2423160" cy="640080"/>
          </a:xfrm>
          <a:prstGeom prst="rect">
            <a:avLst/>
          </a:prstGeom>
          <a:noFill/>
          <a:ln/>
        </p:spPr>
        <p:txBody>
          <a:bodyPr wrap="square" lIns="0" tIns="0" rIns="0" bIns="0" rtlCol="0" anchor="ctr"/>
          <a:lstStyle/>
          <a:p>
            <a:pPr indent="0" marL="0">
              <a:buNone/>
            </a:pPr>
            <a:r>
              <a:rPr lang="en-US" sz="3800" b="1" dirty="0">
                <a:solidFill>
                  <a:srgbClr val="3B82F6"/>
                </a:solidFill>
                <a:latin typeface="Trebuchet MS" pitchFamily="34" charset="0"/>
                <a:ea typeface="Trebuchet MS" pitchFamily="34" charset="-122"/>
                <a:cs typeface="Trebuchet MS" pitchFamily="34" charset="-120"/>
              </a:rPr>
              <a:t>~6</a:t>
            </a:r>
            <a:endParaRPr lang="en-US" sz="3800" dirty="0"/>
          </a:p>
        </p:txBody>
      </p:sp>
      <p:sp>
        <p:nvSpPr>
          <p:cNvPr id="15" name="Text 13"/>
          <p:cNvSpPr/>
          <p:nvPr/>
        </p:nvSpPr>
        <p:spPr>
          <a:xfrm>
            <a:off x="9025128" y="2468880"/>
            <a:ext cx="2377440" cy="320040"/>
          </a:xfrm>
          <a:prstGeom prst="rect">
            <a:avLst/>
          </a:prstGeom>
          <a:noFill/>
          <a:ln/>
        </p:spPr>
        <p:txBody>
          <a:bodyPr wrap="square" lIns="0" tIns="0" rIns="0" bIns="0" rtlCol="0" anchor="t"/>
          <a:lstStyle/>
          <a:p>
            <a:pPr indent="0" marL="0">
              <a:buNone/>
            </a:pPr>
            <a:r>
              <a:rPr lang="en-US" sz="1300" b="1" dirty="0">
                <a:solidFill>
                  <a:srgbClr val="1E1B4B"/>
                </a:solidFill>
                <a:latin typeface="Trebuchet MS" pitchFamily="34" charset="0"/>
                <a:ea typeface="Trebuchet MS" pitchFamily="34" charset="-122"/>
                <a:cs typeface="Trebuchet MS" pitchFamily="34" charset="-120"/>
              </a:rPr>
              <a:t>comprehension scenes</a:t>
            </a:r>
            <a:endParaRPr lang="en-US" sz="1300" dirty="0"/>
          </a:p>
        </p:txBody>
      </p:sp>
      <p:sp>
        <p:nvSpPr>
          <p:cNvPr id="16" name="Shape 14"/>
          <p:cNvSpPr/>
          <p:nvPr/>
        </p:nvSpPr>
        <p:spPr>
          <a:xfrm>
            <a:off x="548640" y="3246120"/>
            <a:ext cx="11064240" cy="2240280"/>
          </a:xfrm>
          <a:prstGeom prst="rect">
            <a:avLst/>
          </a:prstGeom>
          <a:solidFill>
            <a:srgbClr val="FDEAF2"/>
          </a:solidFill>
          <a:ln w="19050">
            <a:solidFill>
              <a:srgbClr val="F6B8D2"/>
            </a:solidFill>
            <a:prstDash val="solid"/>
          </a:ln>
        </p:spPr>
      </p:sp>
      <p:sp>
        <p:nvSpPr>
          <p:cNvPr id="17" name="Text 15"/>
          <p:cNvSpPr/>
          <p:nvPr/>
        </p:nvSpPr>
        <p:spPr>
          <a:xfrm>
            <a:off x="777240" y="3429000"/>
            <a:ext cx="10607040" cy="365760"/>
          </a:xfrm>
          <a:prstGeom prst="rect">
            <a:avLst/>
          </a:prstGeom>
          <a:noFill/>
          <a:ln/>
        </p:spPr>
        <p:txBody>
          <a:bodyPr wrap="square" lIns="0" tIns="0" rIns="0" bIns="0" rtlCol="0" anchor="ctr"/>
          <a:lstStyle/>
          <a:p>
            <a:pPr indent="0" marL="0">
              <a:buNone/>
            </a:pPr>
            <a:r>
              <a:rPr lang="en-US" sz="1800" b="1" dirty="0">
                <a:solidFill>
                  <a:srgbClr val="C2185B"/>
                </a:solidFill>
                <a:latin typeface="Trebuchet MS" pitchFamily="34" charset="0"/>
                <a:ea typeface="Trebuchet MS" pitchFamily="34" charset="-122"/>
                <a:cs typeface="Trebuchet MS" pitchFamily="34" charset="-120"/>
              </a:rPr>
              <a:t>The locked eye rule for every creature</a:t>
            </a:r>
            <a:endParaRPr lang="en-US" sz="1800" dirty="0"/>
          </a:p>
        </p:txBody>
      </p:sp>
      <p:sp>
        <p:nvSpPr>
          <p:cNvPr id="18" name="Text 16"/>
          <p:cNvSpPr/>
          <p:nvPr/>
        </p:nvSpPr>
        <p:spPr>
          <a:xfrm>
            <a:off x="777240" y="3886200"/>
            <a:ext cx="10607040" cy="914400"/>
          </a:xfrm>
          <a:prstGeom prst="rect">
            <a:avLst/>
          </a:prstGeom>
          <a:noFill/>
          <a:ln/>
        </p:spPr>
        <p:txBody>
          <a:bodyPr wrap="square" lIns="0" tIns="0" rIns="0" bIns="0" rtlCol="0" anchor="ctr"/>
          <a:lstStyle/>
          <a:p>
            <a:pPr indent="0" marL="0">
              <a:buNone/>
            </a:pPr>
            <a:r>
              <a:rPr lang="en-US" sz="1400" b="1" dirty="0">
                <a:solidFill>
                  <a:srgbClr val="7A1238"/>
                </a:solidFill>
                <a:latin typeface="Calibri" pitchFamily="34" charset="0"/>
                <a:ea typeface="Calibri" pitchFamily="34" charset="-122"/>
                <a:cs typeface="Calibri" pitchFamily="34" charset="-120"/>
              </a:rPr>
              <a:t>Cat, ant, rat, fox, owl and every other creature use small solid pure-black round dot eyes.</a:t>
            </a:r>
            <a:endParaRPr lang="en-US" sz="1400" dirty="0"/>
          </a:p>
          <a:p>
            <a:pPr indent="0" marL="0">
              <a:buNone/>
            </a:pPr>
            <a:r>
              <a:rPr lang="en-US" sz="1400" dirty="0">
                <a:solidFill>
                  <a:srgbClr val="7A1238"/>
                </a:solidFill>
                <a:latin typeface="Calibri" pitchFamily="34" charset="0"/>
                <a:ea typeface="Calibri" pitchFamily="34" charset="-122"/>
                <a:cs typeface="Calibri" pitchFamily="34" charset="-120"/>
              </a:rPr>
              <a:t>Never large or wide eyes. No white shines. No coloured irises. This matches the storybook characters and is a non-negotiable.</a:t>
            </a:r>
            <a:endParaRPr lang="en-US" sz="1400" dirty="0"/>
          </a:p>
        </p:txBody>
      </p:sp>
      <p:sp>
        <p:nvSpPr>
          <p:cNvPr id="19" name="Text 17"/>
          <p:cNvSpPr/>
          <p:nvPr/>
        </p:nvSpPr>
        <p:spPr>
          <a:xfrm>
            <a:off x="777240" y="4983480"/>
            <a:ext cx="10607040" cy="365760"/>
          </a:xfrm>
          <a:prstGeom prst="rect">
            <a:avLst/>
          </a:prstGeom>
          <a:noFill/>
          <a:ln/>
        </p:spPr>
        <p:txBody>
          <a:bodyPr wrap="square" lIns="0" tIns="0" rIns="0" bIns="0" rtlCol="0" anchor="ctr"/>
          <a:lstStyle/>
          <a:p>
            <a:pPr indent="0" marL="0">
              <a:buNone/>
            </a:pPr>
            <a:r>
              <a:rPr lang="en-US" sz="1150" i="1" dirty="0">
                <a:solidFill>
                  <a:srgbClr val="9B5A74"/>
                </a:solidFill>
                <a:latin typeface="Calibri" pitchFamily="34" charset="0"/>
                <a:ea typeface="Calibri" pitchFamily="34" charset="-122"/>
                <a:cs typeface="Calibri" pitchFamily="34" charset="-120"/>
              </a:rPr>
              <a:t>Generate clipart with generate-clipart.mjs, mascots with generate-mascot.mjs, trim with trim-clipart.mjs.</a:t>
            </a:r>
            <a:endParaRPr lang="en-US" sz="1150" dirty="0"/>
          </a:p>
        </p:txBody>
      </p:sp>
      <p:sp>
        <p:nvSpPr>
          <p:cNvPr id="20" name="Text 18"/>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21" name="Text 19"/>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Assets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B"/>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1E1B4B"/>
                </a:solidFill>
                <a:latin typeface="Trebuchet MS" pitchFamily="34" charset="0"/>
                <a:ea typeface="Trebuchet MS" pitchFamily="34" charset="-122"/>
                <a:cs typeface="Trebuchet MS" pitchFamily="34" charset="-120"/>
              </a:rPr>
              <a:t>Recommended build order</a:t>
            </a:r>
            <a:endParaRPr lang="en-US" sz="3200" dirty="0"/>
          </a:p>
        </p:txBody>
      </p:sp>
      <p:sp>
        <p:nvSpPr>
          <p:cNvPr id="3" name="Shape 1"/>
          <p:cNvSpPr/>
          <p:nvPr/>
        </p:nvSpPr>
        <p:spPr>
          <a:xfrm>
            <a:off x="548640" y="1417320"/>
            <a:ext cx="5440680" cy="1234440"/>
          </a:xfrm>
          <a:prstGeom prst="rect">
            <a:avLst/>
          </a:prstGeom>
          <a:solidFill>
            <a:srgbClr val="FFFFFF"/>
          </a:solidFill>
          <a:ln w="12700">
            <a:solidFill>
              <a:srgbClr val="E5E7EB"/>
            </a:solidFill>
            <a:prstDash val="solid"/>
          </a:ln>
        </p:spPr>
      </p:sp>
      <p:sp>
        <p:nvSpPr>
          <p:cNvPr id="4" name="Shape 2"/>
          <p:cNvSpPr/>
          <p:nvPr/>
        </p:nvSpPr>
        <p:spPr>
          <a:xfrm>
            <a:off x="731520" y="1673352"/>
            <a:ext cx="713232" cy="713232"/>
          </a:xfrm>
          <a:prstGeom prst="ellipse">
            <a:avLst/>
          </a:prstGeom>
          <a:solidFill>
            <a:srgbClr val="E84B8A"/>
          </a:solidFill>
          <a:ln/>
        </p:spPr>
      </p:sp>
      <p:sp>
        <p:nvSpPr>
          <p:cNvPr id="5" name="Text 3"/>
          <p:cNvSpPr/>
          <p:nvPr/>
        </p:nvSpPr>
        <p:spPr>
          <a:xfrm>
            <a:off x="731520" y="1673352"/>
            <a:ext cx="713232" cy="713232"/>
          </a:xfrm>
          <a:prstGeom prst="rect">
            <a:avLst/>
          </a:prstGeom>
          <a:noFill/>
          <a:ln/>
        </p:spPr>
        <p:txBody>
          <a:bodyPr wrap="square" lIns="0" tIns="0" rIns="0" bIns="0"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1</a:t>
            </a:r>
            <a:endParaRPr lang="en-US" sz="2600" dirty="0"/>
          </a:p>
        </p:txBody>
      </p:sp>
      <p:sp>
        <p:nvSpPr>
          <p:cNvPr id="6" name="Text 4"/>
          <p:cNvSpPr/>
          <p:nvPr/>
        </p:nvSpPr>
        <p:spPr>
          <a:xfrm>
            <a:off x="1600200" y="1581912"/>
            <a:ext cx="4297680" cy="457200"/>
          </a:xfrm>
          <a:prstGeom prst="rect">
            <a:avLst/>
          </a:prstGeom>
          <a:noFill/>
          <a:ln/>
        </p:spPr>
        <p:txBody>
          <a:bodyPr wrap="square" lIns="0" tIns="0" rIns="0" bIns="0" rtlCol="0" anchor="ctr"/>
          <a:lstStyle/>
          <a:p>
            <a:pPr indent="0" marL="0">
              <a:buNone/>
            </a:pPr>
            <a:r>
              <a:rPr lang="en-US" sz="1500" b="1" dirty="0">
                <a:solidFill>
                  <a:srgbClr val="1E1B4B"/>
                </a:solidFill>
                <a:latin typeface="Trebuchet MS" pitchFamily="34" charset="0"/>
                <a:ea typeface="Trebuchet MS" pitchFamily="34" charset="-122"/>
                <a:cs typeface="Trebuchet MS" pitchFamily="34" charset="-120"/>
              </a:rPr>
              <a:t>Unblock the data</a:t>
            </a:r>
            <a:endParaRPr lang="en-US" sz="1500" dirty="0"/>
          </a:p>
        </p:txBody>
      </p:sp>
      <p:sp>
        <p:nvSpPr>
          <p:cNvPr id="7" name="Text 5"/>
          <p:cNvSpPr/>
          <p:nvPr/>
        </p:nvSpPr>
        <p:spPr>
          <a:xfrm>
            <a:off x="1600200" y="2020824"/>
            <a:ext cx="4297680" cy="5486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Remap to 8 levels, confirm the Science decision and the Drive PDF re-export</a:t>
            </a:r>
            <a:endParaRPr lang="en-US" sz="1150" dirty="0"/>
          </a:p>
        </p:txBody>
      </p:sp>
      <p:sp>
        <p:nvSpPr>
          <p:cNvPr id="8" name="Shape 6"/>
          <p:cNvSpPr/>
          <p:nvPr/>
        </p:nvSpPr>
        <p:spPr>
          <a:xfrm>
            <a:off x="6172200" y="1417320"/>
            <a:ext cx="5440680" cy="1234440"/>
          </a:xfrm>
          <a:prstGeom prst="rect">
            <a:avLst/>
          </a:prstGeom>
          <a:solidFill>
            <a:srgbClr val="FFFFFF"/>
          </a:solidFill>
          <a:ln w="12700">
            <a:solidFill>
              <a:srgbClr val="E5E7EB"/>
            </a:solidFill>
            <a:prstDash val="solid"/>
          </a:ln>
        </p:spPr>
      </p:sp>
      <p:sp>
        <p:nvSpPr>
          <p:cNvPr id="9" name="Shape 7"/>
          <p:cNvSpPr/>
          <p:nvPr/>
        </p:nvSpPr>
        <p:spPr>
          <a:xfrm>
            <a:off x="6355080" y="1673352"/>
            <a:ext cx="713232" cy="713232"/>
          </a:xfrm>
          <a:prstGeom prst="ellipse">
            <a:avLst/>
          </a:prstGeom>
          <a:solidFill>
            <a:srgbClr val="F97066"/>
          </a:solidFill>
          <a:ln/>
        </p:spPr>
      </p:sp>
      <p:sp>
        <p:nvSpPr>
          <p:cNvPr id="10" name="Text 8"/>
          <p:cNvSpPr/>
          <p:nvPr/>
        </p:nvSpPr>
        <p:spPr>
          <a:xfrm>
            <a:off x="6355080" y="1673352"/>
            <a:ext cx="713232" cy="713232"/>
          </a:xfrm>
          <a:prstGeom prst="rect">
            <a:avLst/>
          </a:prstGeom>
          <a:noFill/>
          <a:ln/>
        </p:spPr>
        <p:txBody>
          <a:bodyPr wrap="square" lIns="0" tIns="0" rIns="0" bIns="0"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2</a:t>
            </a:r>
            <a:endParaRPr lang="en-US" sz="2600" dirty="0"/>
          </a:p>
        </p:txBody>
      </p:sp>
      <p:sp>
        <p:nvSpPr>
          <p:cNvPr id="11" name="Text 9"/>
          <p:cNvSpPr/>
          <p:nvPr/>
        </p:nvSpPr>
        <p:spPr>
          <a:xfrm>
            <a:off x="7223760" y="1581912"/>
            <a:ext cx="4297680" cy="457200"/>
          </a:xfrm>
          <a:prstGeom prst="rect">
            <a:avLst/>
          </a:prstGeom>
          <a:noFill/>
          <a:ln/>
        </p:spPr>
        <p:txBody>
          <a:bodyPr wrap="square" lIns="0" tIns="0" rIns="0" bIns="0" rtlCol="0" anchor="ctr"/>
          <a:lstStyle/>
          <a:p>
            <a:pPr indent="0" marL="0">
              <a:buNone/>
            </a:pPr>
            <a:r>
              <a:rPr lang="en-US" sz="1500" b="1" dirty="0">
                <a:solidFill>
                  <a:srgbClr val="1E1B4B"/>
                </a:solidFill>
                <a:latin typeface="Trebuchet MS" pitchFamily="34" charset="0"/>
                <a:ea typeface="Trebuchet MS" pitchFamily="34" charset="-122"/>
                <a:cs typeface="Trebuchet MS" pitchFamily="34" charset="-120"/>
              </a:rPr>
              <a:t>Build P0 shell templates</a:t>
            </a:r>
            <a:endParaRPr lang="en-US" sz="1500" dirty="0"/>
          </a:p>
        </p:txBody>
      </p:sp>
      <p:sp>
        <p:nvSpPr>
          <p:cNvPr id="12" name="Text 10"/>
          <p:cNvSpPr/>
          <p:nvPr/>
        </p:nvSpPr>
        <p:spPr>
          <a:xfrm>
            <a:off x="7223760" y="2020824"/>
            <a:ext cx="4297680" cy="5486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Cover, contents, handwriting, tricky words, sentence writing</a:t>
            </a:r>
            <a:endParaRPr lang="en-US" sz="1150" dirty="0"/>
          </a:p>
        </p:txBody>
      </p:sp>
      <p:sp>
        <p:nvSpPr>
          <p:cNvPr id="13" name="Shape 11"/>
          <p:cNvSpPr/>
          <p:nvPr/>
        </p:nvSpPr>
        <p:spPr>
          <a:xfrm>
            <a:off x="548640" y="2834640"/>
            <a:ext cx="5440680" cy="1234440"/>
          </a:xfrm>
          <a:prstGeom prst="rect">
            <a:avLst/>
          </a:prstGeom>
          <a:solidFill>
            <a:srgbClr val="FFFFFF"/>
          </a:solidFill>
          <a:ln w="12700">
            <a:solidFill>
              <a:srgbClr val="E5E7EB"/>
            </a:solidFill>
            <a:prstDash val="solid"/>
          </a:ln>
        </p:spPr>
      </p:sp>
      <p:sp>
        <p:nvSpPr>
          <p:cNvPr id="14" name="Shape 12"/>
          <p:cNvSpPr/>
          <p:nvPr/>
        </p:nvSpPr>
        <p:spPr>
          <a:xfrm>
            <a:off x="731520" y="3090672"/>
            <a:ext cx="713232" cy="713232"/>
          </a:xfrm>
          <a:prstGeom prst="ellipse">
            <a:avLst/>
          </a:prstGeom>
          <a:solidFill>
            <a:srgbClr val="F59E0B"/>
          </a:solidFill>
          <a:ln/>
        </p:spPr>
      </p:sp>
      <p:sp>
        <p:nvSpPr>
          <p:cNvPr id="15" name="Text 13"/>
          <p:cNvSpPr/>
          <p:nvPr/>
        </p:nvSpPr>
        <p:spPr>
          <a:xfrm>
            <a:off x="731520" y="3090672"/>
            <a:ext cx="713232" cy="713232"/>
          </a:xfrm>
          <a:prstGeom prst="rect">
            <a:avLst/>
          </a:prstGeom>
          <a:noFill/>
          <a:ln/>
        </p:spPr>
        <p:txBody>
          <a:bodyPr wrap="square" lIns="0" tIns="0" rIns="0" bIns="0"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3</a:t>
            </a:r>
            <a:endParaRPr lang="en-US" sz="2600" dirty="0"/>
          </a:p>
        </p:txBody>
      </p:sp>
      <p:sp>
        <p:nvSpPr>
          <p:cNvPr id="16" name="Text 14"/>
          <p:cNvSpPr/>
          <p:nvPr/>
        </p:nvSpPr>
        <p:spPr>
          <a:xfrm>
            <a:off x="1600200" y="2999232"/>
            <a:ext cx="4297680" cy="457200"/>
          </a:xfrm>
          <a:prstGeom prst="rect">
            <a:avLst/>
          </a:prstGeom>
          <a:noFill/>
          <a:ln/>
        </p:spPr>
        <p:txBody>
          <a:bodyPr wrap="square" lIns="0" tIns="0" rIns="0" bIns="0" rtlCol="0" anchor="ctr"/>
          <a:lstStyle/>
          <a:p>
            <a:pPr indent="0" marL="0">
              <a:buNone/>
            </a:pPr>
            <a:r>
              <a:rPr lang="en-US" sz="1500" b="1" dirty="0">
                <a:solidFill>
                  <a:srgbClr val="1E1B4B"/>
                </a:solidFill>
                <a:latin typeface="Trebuchet MS" pitchFamily="34" charset="0"/>
                <a:ea typeface="Trebuchet MS" pitchFamily="34" charset="-122"/>
                <a:cs typeface="Trebuchet MS" pitchFamily="34" charset="-120"/>
              </a:rPr>
              <a:t>Pilot L1 end to end</a:t>
            </a:r>
            <a:endParaRPr lang="en-US" sz="1500" dirty="0"/>
          </a:p>
        </p:txBody>
      </p:sp>
      <p:sp>
        <p:nvSpPr>
          <p:cNvPr id="17" name="Text 15"/>
          <p:cNvSpPr/>
          <p:nvPr/>
        </p:nvSpPr>
        <p:spPr>
          <a:xfrm>
            <a:off x="1600200" y="3438144"/>
            <a:ext cx="4297680" cy="5486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Cover to 10 sound sheets to certificate, render PDF, pass visual QA</a:t>
            </a:r>
            <a:endParaRPr lang="en-US" sz="1150" dirty="0"/>
          </a:p>
        </p:txBody>
      </p:sp>
      <p:sp>
        <p:nvSpPr>
          <p:cNvPr id="18" name="Shape 16"/>
          <p:cNvSpPr/>
          <p:nvPr/>
        </p:nvSpPr>
        <p:spPr>
          <a:xfrm>
            <a:off x="6172200" y="2834640"/>
            <a:ext cx="5440680" cy="1234440"/>
          </a:xfrm>
          <a:prstGeom prst="rect">
            <a:avLst/>
          </a:prstGeom>
          <a:solidFill>
            <a:srgbClr val="FFFFFF"/>
          </a:solidFill>
          <a:ln w="12700">
            <a:solidFill>
              <a:srgbClr val="E5E7EB"/>
            </a:solidFill>
            <a:prstDash val="solid"/>
          </a:ln>
        </p:spPr>
      </p:sp>
      <p:sp>
        <p:nvSpPr>
          <p:cNvPr id="19" name="Shape 17"/>
          <p:cNvSpPr/>
          <p:nvPr/>
        </p:nvSpPr>
        <p:spPr>
          <a:xfrm>
            <a:off x="6355080" y="3090672"/>
            <a:ext cx="713232" cy="713232"/>
          </a:xfrm>
          <a:prstGeom prst="ellipse">
            <a:avLst/>
          </a:prstGeom>
          <a:solidFill>
            <a:srgbClr val="22C55E"/>
          </a:solidFill>
          <a:ln/>
        </p:spPr>
      </p:sp>
      <p:sp>
        <p:nvSpPr>
          <p:cNvPr id="20" name="Text 18"/>
          <p:cNvSpPr/>
          <p:nvPr/>
        </p:nvSpPr>
        <p:spPr>
          <a:xfrm>
            <a:off x="6355080" y="3090672"/>
            <a:ext cx="713232" cy="713232"/>
          </a:xfrm>
          <a:prstGeom prst="rect">
            <a:avLst/>
          </a:prstGeom>
          <a:noFill/>
          <a:ln/>
        </p:spPr>
        <p:txBody>
          <a:bodyPr wrap="square" lIns="0" tIns="0" rIns="0" bIns="0"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4</a:t>
            </a:r>
            <a:endParaRPr lang="en-US" sz="2600" dirty="0"/>
          </a:p>
        </p:txBody>
      </p:sp>
      <p:sp>
        <p:nvSpPr>
          <p:cNvPr id="21" name="Text 19"/>
          <p:cNvSpPr/>
          <p:nvPr/>
        </p:nvSpPr>
        <p:spPr>
          <a:xfrm>
            <a:off x="7223760" y="2999232"/>
            <a:ext cx="4297680" cy="457200"/>
          </a:xfrm>
          <a:prstGeom prst="rect">
            <a:avLst/>
          </a:prstGeom>
          <a:noFill/>
          <a:ln/>
        </p:spPr>
        <p:txBody>
          <a:bodyPr wrap="square" lIns="0" tIns="0" rIns="0" bIns="0" rtlCol="0" anchor="ctr"/>
          <a:lstStyle/>
          <a:p>
            <a:pPr indent="0" marL="0">
              <a:buNone/>
            </a:pPr>
            <a:r>
              <a:rPr lang="en-US" sz="1500" b="1" dirty="0">
                <a:solidFill>
                  <a:srgbClr val="1E1B4B"/>
                </a:solidFill>
                <a:latin typeface="Trebuchet MS" pitchFamily="34" charset="0"/>
                <a:ea typeface="Trebuchet MS" pitchFamily="34" charset="-122"/>
                <a:cs typeface="Trebuchet MS" pitchFamily="34" charset="-120"/>
              </a:rPr>
              <a:t>Generate L1 to L3 clipart</a:t>
            </a:r>
            <a:endParaRPr lang="en-US" sz="1500" dirty="0"/>
          </a:p>
        </p:txBody>
      </p:sp>
      <p:sp>
        <p:nvSpPr>
          <p:cNvPr id="22" name="Text 20"/>
          <p:cNvSpPr/>
          <p:nvPr/>
        </p:nvSpPr>
        <p:spPr>
          <a:xfrm>
            <a:off x="7223760" y="3438144"/>
            <a:ext cx="4297680" cy="5486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Heaviest creature load, verify the dot-eye rule on every one</a:t>
            </a:r>
            <a:endParaRPr lang="en-US" sz="1150" dirty="0"/>
          </a:p>
        </p:txBody>
      </p:sp>
      <p:sp>
        <p:nvSpPr>
          <p:cNvPr id="23" name="Shape 21"/>
          <p:cNvSpPr/>
          <p:nvPr/>
        </p:nvSpPr>
        <p:spPr>
          <a:xfrm>
            <a:off x="548640" y="4251960"/>
            <a:ext cx="5440680" cy="1234440"/>
          </a:xfrm>
          <a:prstGeom prst="rect">
            <a:avLst/>
          </a:prstGeom>
          <a:solidFill>
            <a:srgbClr val="FFFFFF"/>
          </a:solidFill>
          <a:ln w="12700">
            <a:solidFill>
              <a:srgbClr val="E5E7EB"/>
            </a:solidFill>
            <a:prstDash val="solid"/>
          </a:ln>
        </p:spPr>
      </p:sp>
      <p:sp>
        <p:nvSpPr>
          <p:cNvPr id="24" name="Shape 22"/>
          <p:cNvSpPr/>
          <p:nvPr/>
        </p:nvSpPr>
        <p:spPr>
          <a:xfrm>
            <a:off x="731520" y="4507992"/>
            <a:ext cx="713232" cy="713232"/>
          </a:xfrm>
          <a:prstGeom prst="ellipse">
            <a:avLst/>
          </a:prstGeom>
          <a:solidFill>
            <a:srgbClr val="3B82F6"/>
          </a:solidFill>
          <a:ln/>
        </p:spPr>
      </p:sp>
      <p:sp>
        <p:nvSpPr>
          <p:cNvPr id="25" name="Text 23"/>
          <p:cNvSpPr/>
          <p:nvPr/>
        </p:nvSpPr>
        <p:spPr>
          <a:xfrm>
            <a:off x="731520" y="4507992"/>
            <a:ext cx="713232" cy="713232"/>
          </a:xfrm>
          <a:prstGeom prst="rect">
            <a:avLst/>
          </a:prstGeom>
          <a:noFill/>
          <a:ln/>
        </p:spPr>
        <p:txBody>
          <a:bodyPr wrap="square" lIns="0" tIns="0" rIns="0" bIns="0"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5</a:t>
            </a:r>
            <a:endParaRPr lang="en-US" sz="2600" dirty="0"/>
          </a:p>
        </p:txBody>
      </p:sp>
      <p:sp>
        <p:nvSpPr>
          <p:cNvPr id="26" name="Text 24"/>
          <p:cNvSpPr/>
          <p:nvPr/>
        </p:nvSpPr>
        <p:spPr>
          <a:xfrm>
            <a:off x="1600200" y="4416552"/>
            <a:ext cx="4297680" cy="457200"/>
          </a:xfrm>
          <a:prstGeom prst="rect">
            <a:avLst/>
          </a:prstGeom>
          <a:noFill/>
          <a:ln/>
        </p:spPr>
        <p:txBody>
          <a:bodyPr wrap="square" lIns="0" tIns="0" rIns="0" bIns="0" rtlCol="0" anchor="ctr"/>
          <a:lstStyle/>
          <a:p>
            <a:pPr indent="0" marL="0">
              <a:buNone/>
            </a:pPr>
            <a:r>
              <a:rPr lang="en-US" sz="1500" b="1" dirty="0">
                <a:solidFill>
                  <a:srgbClr val="1E1B4B"/>
                </a:solidFill>
                <a:latin typeface="Trebuchet MS" pitchFamily="34" charset="0"/>
                <a:ea typeface="Trebuchet MS" pitchFamily="34" charset="-122"/>
                <a:cs typeface="Trebuchet MS" pitchFamily="34" charset="-120"/>
              </a:rPr>
              <a:t>Build grammar and spelling templates</a:t>
            </a:r>
            <a:endParaRPr lang="en-US" sz="1500" dirty="0"/>
          </a:p>
        </p:txBody>
      </p:sp>
      <p:sp>
        <p:nvSpPr>
          <p:cNvPr id="27" name="Text 25"/>
          <p:cNvSpPr/>
          <p:nvPr/>
        </p:nvSpPr>
        <p:spPr>
          <a:xfrm>
            <a:off x="1600200" y="4855464"/>
            <a:ext cx="4297680" cy="5486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Use the ready L3 and L4 design docs, author the missing ones</a:t>
            </a:r>
            <a:endParaRPr lang="en-US" sz="1150" dirty="0"/>
          </a:p>
        </p:txBody>
      </p:sp>
      <p:sp>
        <p:nvSpPr>
          <p:cNvPr id="28" name="Shape 26"/>
          <p:cNvSpPr/>
          <p:nvPr/>
        </p:nvSpPr>
        <p:spPr>
          <a:xfrm>
            <a:off x="6172200" y="4251960"/>
            <a:ext cx="5440680" cy="1234440"/>
          </a:xfrm>
          <a:prstGeom prst="rect">
            <a:avLst/>
          </a:prstGeom>
          <a:solidFill>
            <a:srgbClr val="FFFFFF"/>
          </a:solidFill>
          <a:ln w="12700">
            <a:solidFill>
              <a:srgbClr val="E5E7EB"/>
            </a:solidFill>
            <a:prstDash val="solid"/>
          </a:ln>
        </p:spPr>
      </p:sp>
      <p:sp>
        <p:nvSpPr>
          <p:cNvPr id="29" name="Shape 27"/>
          <p:cNvSpPr/>
          <p:nvPr/>
        </p:nvSpPr>
        <p:spPr>
          <a:xfrm>
            <a:off x="6355080" y="4507992"/>
            <a:ext cx="713232" cy="713232"/>
          </a:xfrm>
          <a:prstGeom prst="ellipse">
            <a:avLst/>
          </a:prstGeom>
          <a:solidFill>
            <a:srgbClr val="6366F1"/>
          </a:solidFill>
          <a:ln/>
        </p:spPr>
      </p:sp>
      <p:sp>
        <p:nvSpPr>
          <p:cNvPr id="30" name="Text 28"/>
          <p:cNvSpPr/>
          <p:nvPr/>
        </p:nvSpPr>
        <p:spPr>
          <a:xfrm>
            <a:off x="6355080" y="4507992"/>
            <a:ext cx="713232" cy="713232"/>
          </a:xfrm>
          <a:prstGeom prst="rect">
            <a:avLst/>
          </a:prstGeom>
          <a:noFill/>
          <a:ln/>
        </p:spPr>
        <p:txBody>
          <a:bodyPr wrap="square" lIns="0" tIns="0" rIns="0" bIns="0"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6</a:t>
            </a:r>
            <a:endParaRPr lang="en-US" sz="2600" dirty="0"/>
          </a:p>
        </p:txBody>
      </p:sp>
      <p:sp>
        <p:nvSpPr>
          <p:cNvPr id="31" name="Text 29"/>
          <p:cNvSpPr/>
          <p:nvPr/>
        </p:nvSpPr>
        <p:spPr>
          <a:xfrm>
            <a:off x="7223760" y="4416552"/>
            <a:ext cx="4297680" cy="457200"/>
          </a:xfrm>
          <a:prstGeom prst="rect">
            <a:avLst/>
          </a:prstGeom>
          <a:noFill/>
          <a:ln/>
        </p:spPr>
        <p:txBody>
          <a:bodyPr wrap="square" lIns="0" tIns="0" rIns="0" bIns="0" rtlCol="0" anchor="ctr"/>
          <a:lstStyle/>
          <a:p>
            <a:pPr indent="0" marL="0">
              <a:buNone/>
            </a:pPr>
            <a:r>
              <a:rPr lang="en-US" sz="1500" b="1" dirty="0">
                <a:solidFill>
                  <a:srgbClr val="1E1B4B"/>
                </a:solidFill>
                <a:latin typeface="Trebuchet MS" pitchFamily="34" charset="0"/>
                <a:ea typeface="Trebuchet MS" pitchFamily="34" charset="-122"/>
                <a:cs typeface="Trebuchet MS" pitchFamily="34" charset="-120"/>
              </a:rPr>
              <a:t>Roll out L2 to L8 packs</a:t>
            </a:r>
            <a:endParaRPr lang="en-US" sz="1500" dirty="0"/>
          </a:p>
        </p:txBody>
      </p:sp>
      <p:sp>
        <p:nvSpPr>
          <p:cNvPr id="32" name="Text 30"/>
          <p:cNvSpPr/>
          <p:nvPr/>
        </p:nvSpPr>
        <p:spPr>
          <a:xfrm>
            <a:off x="7223760" y="4855464"/>
            <a:ext cx="4297680" cy="5486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Mostly new data, few new templates, then cross-level audit</a:t>
            </a:r>
            <a:endParaRPr lang="en-US" sz="1150" dirty="0"/>
          </a:p>
        </p:txBody>
      </p:sp>
      <p:sp>
        <p:nvSpPr>
          <p:cNvPr id="33" name="Text 31"/>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b="1" dirty="0">
                <a:solidFill>
                  <a:srgbClr val="8B5CF6"/>
                </a:solidFill>
                <a:latin typeface="Calibri" pitchFamily="34" charset="0"/>
                <a:ea typeface="Calibri" pitchFamily="34" charset="-122"/>
                <a:cs typeface="Calibri" pitchFamily="34" charset="-120"/>
              </a:rPr>
              <a:t>MyPhonicsBooks</a:t>
            </a:r>
            <a:pPr algn="l" indent="0" marL="0">
              <a:buNone/>
            </a:pPr>
            <a:r>
              <a:rPr lang="en-US" sz="900" dirty="0">
                <a:solidFill>
                  <a:srgbClr val="6B7280"/>
                </a:solidFill>
                <a:latin typeface="Calibri" pitchFamily="34" charset="0"/>
                <a:ea typeface="Calibri" pitchFamily="34" charset="-122"/>
                <a:cs typeface="Calibri" pitchFamily="34" charset="-120"/>
              </a:rPr>
              <a:t>   ·   decodable phonics worksheet system   ·   plan for review</a:t>
            </a:r>
            <a:endParaRPr lang="en-US" sz="900" dirty="0"/>
          </a:p>
        </p:txBody>
      </p:sp>
      <p:sp>
        <p:nvSpPr>
          <p:cNvPr id="34" name="Text 32"/>
          <p:cNvSpPr/>
          <p:nvPr/>
        </p:nvSpPr>
        <p:spPr>
          <a:xfrm>
            <a:off x="9445752" y="6446520"/>
            <a:ext cx="22860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Build order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B5CF6"/>
          </a:solidFill>
          <a:ln/>
        </p:spPr>
      </p:sp>
      <p:sp>
        <p:nvSpPr>
          <p:cNvPr id="3" name="Text 1"/>
          <p:cNvSpPr/>
          <p:nvPr/>
        </p:nvSpPr>
        <p:spPr>
          <a:xfrm>
            <a:off x="822960" y="128016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Over to you</a:t>
            </a:r>
            <a:endParaRPr lang="en-US" sz="4000" dirty="0"/>
          </a:p>
        </p:txBody>
      </p:sp>
      <p:sp>
        <p:nvSpPr>
          <p:cNvPr id="4" name="Text 2"/>
          <p:cNvSpPr/>
          <p:nvPr/>
        </p:nvSpPr>
        <p:spPr>
          <a:xfrm>
            <a:off x="841248" y="2286000"/>
            <a:ext cx="9601200" cy="548640"/>
          </a:xfrm>
          <a:prstGeom prst="rect">
            <a:avLst/>
          </a:prstGeom>
          <a:noFill/>
          <a:ln/>
        </p:spPr>
        <p:txBody>
          <a:bodyPr wrap="square" lIns="0" tIns="0" rIns="0" bIns="0" rtlCol="0" anchor="ctr"/>
          <a:lstStyle/>
          <a:p>
            <a:pPr indent="0" marL="0">
              <a:buNone/>
            </a:pPr>
            <a:r>
              <a:rPr lang="en-US" sz="1500" dirty="0">
                <a:solidFill>
                  <a:srgbClr val="D8D5F0"/>
                </a:solidFill>
                <a:latin typeface="Calibri" pitchFamily="34" charset="0"/>
                <a:ea typeface="Calibri" pitchFamily="34" charset="-122"/>
                <a:cs typeface="Calibri" pitchFamily="34" charset="-120"/>
              </a:rPr>
              <a:t>The full page-by-page plan lives in worksheet-engine/docs/booklet_plan.md. No templates built yet, as asked.</a:t>
            </a:r>
            <a:endParaRPr lang="en-US" sz="1500" dirty="0"/>
          </a:p>
        </p:txBody>
      </p:sp>
      <p:sp>
        <p:nvSpPr>
          <p:cNvPr id="5" name="Shape 3"/>
          <p:cNvSpPr/>
          <p:nvPr/>
        </p:nvSpPr>
        <p:spPr>
          <a:xfrm>
            <a:off x="868680" y="3108960"/>
            <a:ext cx="457200" cy="457200"/>
          </a:xfrm>
          <a:prstGeom prst="ellipse">
            <a:avLst/>
          </a:prstGeom>
          <a:solidFill>
            <a:srgbClr val="3B82F6"/>
          </a:solidFill>
          <a:ln/>
        </p:spPr>
      </p:sp>
      <p:sp>
        <p:nvSpPr>
          <p:cNvPr id="6" name="Text 4"/>
          <p:cNvSpPr/>
          <p:nvPr/>
        </p:nvSpPr>
        <p:spPr>
          <a:xfrm>
            <a:off x="86868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1554480" y="3063240"/>
            <a:ext cx="987552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Settle Science   </a:t>
            </a:r>
            <a:pPr indent="0" marL="0">
              <a:buNone/>
            </a:pPr>
            <a:r>
              <a:rPr lang="en-US" sz="1450" dirty="0">
                <a:solidFill>
                  <a:srgbClr val="B9B5DE"/>
                </a:solidFill>
                <a:latin typeface="Calibri" pitchFamily="34" charset="0"/>
                <a:ea typeface="Calibri" pitchFamily="34" charset="-122"/>
                <a:cs typeface="Calibri" pitchFamily="34" charset="-120"/>
              </a:rPr>
              <a:t>Out of v1, or an optional 'Word and World' page from the cultural briefs?</a:t>
            </a:r>
            <a:endParaRPr lang="en-US" sz="1450" dirty="0"/>
          </a:p>
        </p:txBody>
      </p:sp>
      <p:sp>
        <p:nvSpPr>
          <p:cNvPr id="8" name="Shape 6"/>
          <p:cNvSpPr/>
          <p:nvPr/>
        </p:nvSpPr>
        <p:spPr>
          <a:xfrm>
            <a:off x="868680" y="4069080"/>
            <a:ext cx="457200" cy="457200"/>
          </a:xfrm>
          <a:prstGeom prst="ellipse">
            <a:avLst/>
          </a:prstGeom>
          <a:solidFill>
            <a:srgbClr val="6366F1"/>
          </a:solidFill>
          <a:ln/>
        </p:spPr>
      </p:sp>
      <p:sp>
        <p:nvSpPr>
          <p:cNvPr id="9" name="Text 7"/>
          <p:cNvSpPr/>
          <p:nvPr/>
        </p:nvSpPr>
        <p:spPr>
          <a:xfrm>
            <a:off x="868680" y="4069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0" name="Text 8"/>
          <p:cNvSpPr/>
          <p:nvPr/>
        </p:nvSpPr>
        <p:spPr>
          <a:xfrm>
            <a:off x="1554480" y="4023360"/>
            <a:ext cx="987552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Confirm the data remap   </a:t>
            </a:r>
            <a:pPr indent="0" marL="0">
              <a:buNone/>
            </a:pPr>
            <a:r>
              <a:rPr lang="en-US" sz="1450" dirty="0">
                <a:solidFill>
                  <a:srgbClr val="B9B5DE"/>
                </a:solidFill>
                <a:latin typeface="Calibri" pitchFamily="34" charset="0"/>
                <a:ea typeface="Calibri" pitchFamily="34" charset="-122"/>
                <a:cs typeface="Calibri" pitchFamily="34" charset="-120"/>
              </a:rPr>
              <a:t>Run the 8-level migration so templates read correct content</a:t>
            </a:r>
            <a:endParaRPr lang="en-US" sz="1450" dirty="0"/>
          </a:p>
        </p:txBody>
      </p:sp>
      <p:sp>
        <p:nvSpPr>
          <p:cNvPr id="11" name="Shape 9"/>
          <p:cNvSpPr/>
          <p:nvPr/>
        </p:nvSpPr>
        <p:spPr>
          <a:xfrm>
            <a:off x="868680" y="5029200"/>
            <a:ext cx="457200" cy="457200"/>
          </a:xfrm>
          <a:prstGeom prst="ellipse">
            <a:avLst/>
          </a:prstGeom>
          <a:solidFill>
            <a:srgbClr val="8B5CF6"/>
          </a:solidFill>
          <a:ln/>
        </p:spPr>
      </p:sp>
      <p:sp>
        <p:nvSpPr>
          <p:cNvPr id="12" name="Text 10"/>
          <p:cNvSpPr/>
          <p:nvPr/>
        </p:nvSpPr>
        <p:spPr>
          <a:xfrm>
            <a:off x="868680" y="5029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3" name="Text 11"/>
          <p:cNvSpPr/>
          <p:nvPr/>
        </p:nvSpPr>
        <p:spPr>
          <a:xfrm>
            <a:off x="1554480" y="4983480"/>
            <a:ext cx="987552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Start the P0 templates   </a:t>
            </a:r>
            <a:pPr indent="0" marL="0">
              <a:buNone/>
            </a:pPr>
            <a:r>
              <a:rPr lang="en-US" sz="1450" dirty="0">
                <a:solidFill>
                  <a:srgbClr val="B9B5DE"/>
                </a:solidFill>
                <a:latin typeface="Calibri" pitchFamily="34" charset="0"/>
                <a:ea typeface="Calibri" pitchFamily="34" charset="-122"/>
                <a:cs typeface="Calibri" pitchFamily="34" charset="-120"/>
              </a:rPr>
              <a:t>Handwriting, tricky words, sentence family, cover and contents complete a full L1 pack</a:t>
            </a:r>
            <a:endParaRPr lang="en-US" sz="1450" dirty="0"/>
          </a:p>
        </p:txBody>
      </p:sp>
      <p:sp>
        <p:nvSpPr>
          <p:cNvPr id="14" name="Shape 12"/>
          <p:cNvSpPr/>
          <p:nvPr/>
        </p:nvSpPr>
        <p:spPr>
          <a:xfrm>
            <a:off x="868680" y="6080760"/>
            <a:ext cx="384048" cy="384048"/>
          </a:xfrm>
          <a:prstGeom prst="roundRect">
            <a:avLst>
              <a:gd name="adj" fmla="val 11905"/>
            </a:avLst>
          </a:prstGeom>
          <a:solidFill>
            <a:srgbClr val="E84B8A"/>
          </a:solidFill>
          <a:ln/>
        </p:spPr>
      </p:sp>
      <p:sp>
        <p:nvSpPr>
          <p:cNvPr id="15" name="Text 13"/>
          <p:cNvSpPr/>
          <p:nvPr/>
        </p:nvSpPr>
        <p:spPr>
          <a:xfrm>
            <a:off x="868680"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16" name="Shape 14"/>
          <p:cNvSpPr/>
          <p:nvPr/>
        </p:nvSpPr>
        <p:spPr>
          <a:xfrm>
            <a:off x="1380744" y="6080760"/>
            <a:ext cx="384048" cy="384048"/>
          </a:xfrm>
          <a:prstGeom prst="roundRect">
            <a:avLst>
              <a:gd name="adj" fmla="val 11905"/>
            </a:avLst>
          </a:prstGeom>
          <a:solidFill>
            <a:srgbClr val="F97066"/>
          </a:solidFill>
          <a:ln/>
        </p:spPr>
      </p:sp>
      <p:sp>
        <p:nvSpPr>
          <p:cNvPr id="17" name="Text 15"/>
          <p:cNvSpPr/>
          <p:nvPr/>
        </p:nvSpPr>
        <p:spPr>
          <a:xfrm>
            <a:off x="1380744"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8" name="Shape 16"/>
          <p:cNvSpPr/>
          <p:nvPr/>
        </p:nvSpPr>
        <p:spPr>
          <a:xfrm>
            <a:off x="1892808" y="6080760"/>
            <a:ext cx="384048" cy="384048"/>
          </a:xfrm>
          <a:prstGeom prst="roundRect">
            <a:avLst>
              <a:gd name="adj" fmla="val 11905"/>
            </a:avLst>
          </a:prstGeom>
          <a:solidFill>
            <a:srgbClr val="F59E0B"/>
          </a:solidFill>
          <a:ln/>
        </p:spPr>
      </p:sp>
      <p:sp>
        <p:nvSpPr>
          <p:cNvPr id="19" name="Text 17"/>
          <p:cNvSpPr/>
          <p:nvPr/>
        </p:nvSpPr>
        <p:spPr>
          <a:xfrm>
            <a:off x="1892808"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20" name="Shape 18"/>
          <p:cNvSpPr/>
          <p:nvPr/>
        </p:nvSpPr>
        <p:spPr>
          <a:xfrm>
            <a:off x="2404872" y="6080760"/>
            <a:ext cx="384048" cy="384048"/>
          </a:xfrm>
          <a:prstGeom prst="roundRect">
            <a:avLst>
              <a:gd name="adj" fmla="val 11905"/>
            </a:avLst>
          </a:prstGeom>
          <a:solidFill>
            <a:srgbClr val="22C55E"/>
          </a:solidFill>
          <a:ln/>
        </p:spPr>
      </p:sp>
      <p:sp>
        <p:nvSpPr>
          <p:cNvPr id="21" name="Text 19"/>
          <p:cNvSpPr/>
          <p:nvPr/>
        </p:nvSpPr>
        <p:spPr>
          <a:xfrm>
            <a:off x="2404872"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22" name="Shape 20"/>
          <p:cNvSpPr/>
          <p:nvPr/>
        </p:nvSpPr>
        <p:spPr>
          <a:xfrm>
            <a:off x="2916936" y="6080760"/>
            <a:ext cx="384048" cy="384048"/>
          </a:xfrm>
          <a:prstGeom prst="roundRect">
            <a:avLst>
              <a:gd name="adj" fmla="val 11905"/>
            </a:avLst>
          </a:prstGeom>
          <a:solidFill>
            <a:srgbClr val="3B82F6"/>
          </a:solidFill>
          <a:ln/>
        </p:spPr>
      </p:sp>
      <p:sp>
        <p:nvSpPr>
          <p:cNvPr id="23" name="Text 21"/>
          <p:cNvSpPr/>
          <p:nvPr/>
        </p:nvSpPr>
        <p:spPr>
          <a:xfrm>
            <a:off x="2916936"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5</a:t>
            </a:r>
            <a:endParaRPr lang="en-US" sz="1300" dirty="0"/>
          </a:p>
        </p:txBody>
      </p:sp>
      <p:sp>
        <p:nvSpPr>
          <p:cNvPr id="24" name="Shape 22"/>
          <p:cNvSpPr/>
          <p:nvPr/>
        </p:nvSpPr>
        <p:spPr>
          <a:xfrm>
            <a:off x="3429000" y="6080760"/>
            <a:ext cx="384048" cy="384048"/>
          </a:xfrm>
          <a:prstGeom prst="roundRect">
            <a:avLst>
              <a:gd name="adj" fmla="val 11905"/>
            </a:avLst>
          </a:prstGeom>
          <a:solidFill>
            <a:srgbClr val="6366F1"/>
          </a:solidFill>
          <a:ln/>
        </p:spPr>
      </p:sp>
      <p:sp>
        <p:nvSpPr>
          <p:cNvPr id="25" name="Text 23"/>
          <p:cNvSpPr/>
          <p:nvPr/>
        </p:nvSpPr>
        <p:spPr>
          <a:xfrm>
            <a:off x="3429000"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6</a:t>
            </a:r>
            <a:endParaRPr lang="en-US" sz="1300" dirty="0"/>
          </a:p>
        </p:txBody>
      </p:sp>
      <p:sp>
        <p:nvSpPr>
          <p:cNvPr id="26" name="Shape 24"/>
          <p:cNvSpPr/>
          <p:nvPr/>
        </p:nvSpPr>
        <p:spPr>
          <a:xfrm>
            <a:off x="3941064" y="6080760"/>
            <a:ext cx="384048" cy="384048"/>
          </a:xfrm>
          <a:prstGeom prst="roundRect">
            <a:avLst>
              <a:gd name="adj" fmla="val 11905"/>
            </a:avLst>
          </a:prstGeom>
          <a:solidFill>
            <a:srgbClr val="8B5CF6"/>
          </a:solidFill>
          <a:ln/>
        </p:spPr>
      </p:sp>
      <p:sp>
        <p:nvSpPr>
          <p:cNvPr id="27" name="Text 25"/>
          <p:cNvSpPr/>
          <p:nvPr/>
        </p:nvSpPr>
        <p:spPr>
          <a:xfrm>
            <a:off x="3941064"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7</a:t>
            </a:r>
            <a:endParaRPr lang="en-US" sz="1300" dirty="0"/>
          </a:p>
        </p:txBody>
      </p:sp>
      <p:sp>
        <p:nvSpPr>
          <p:cNvPr id="28" name="Shape 26"/>
          <p:cNvSpPr/>
          <p:nvPr/>
        </p:nvSpPr>
        <p:spPr>
          <a:xfrm>
            <a:off x="4453128" y="6080760"/>
            <a:ext cx="384048" cy="384048"/>
          </a:xfrm>
          <a:prstGeom prst="roundRect">
            <a:avLst>
              <a:gd name="adj" fmla="val 11905"/>
            </a:avLst>
          </a:prstGeom>
          <a:solidFill>
            <a:srgbClr val="14B8A6"/>
          </a:solidFill>
          <a:ln/>
        </p:spPr>
      </p:sp>
      <p:sp>
        <p:nvSpPr>
          <p:cNvPr id="29" name="Text 27"/>
          <p:cNvSpPr/>
          <p:nvPr/>
        </p:nvSpPr>
        <p:spPr>
          <a:xfrm>
            <a:off x="4453128" y="6080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MyPhonicsBooks Booklet Plan L1-L8</dc:title>
  <dc:subject>PptxGenJS Presentation</dc:subject>
  <dc:creator>Lynden Cooke</dc:creator>
  <cp:lastModifiedBy>Lynden Cooke</cp:lastModifiedBy>
  <cp:revision>1</cp:revision>
  <dcterms:created xsi:type="dcterms:W3CDTF">2026-06-07T15:55:08Z</dcterms:created>
  <dcterms:modified xsi:type="dcterms:W3CDTF">2026-06-07T15:55:08Z</dcterms:modified>
</cp:coreProperties>
</file>